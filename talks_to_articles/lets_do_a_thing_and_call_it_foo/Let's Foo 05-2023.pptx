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56" r:id="rId5"/>
    <p:sldId id="842" r:id="rId6"/>
    <p:sldId id="865" r:id="rId7"/>
    <p:sldId id="705" r:id="rId8"/>
    <p:sldId id="860" r:id="rId9"/>
    <p:sldId id="864" r:id="rId10"/>
    <p:sldId id="858" r:id="rId11"/>
    <p:sldId id="855" r:id="rId12"/>
    <p:sldId id="834" r:id="rId13"/>
    <p:sldId id="856" r:id="rId14"/>
    <p:sldId id="704" r:id="rId15"/>
    <p:sldId id="854" r:id="rId16"/>
    <p:sldId id="839" r:id="rId17"/>
    <p:sldId id="851" r:id="rId18"/>
    <p:sldId id="853" r:id="rId19"/>
    <p:sldId id="857" r:id="rId20"/>
    <p:sldId id="861" r:id="rId21"/>
    <p:sldId id="866" r:id="rId22"/>
    <p:sldId id="844" r:id="rId23"/>
    <p:sldId id="845" r:id="rId24"/>
    <p:sldId id="850" r:id="rId25"/>
    <p:sldId id="846" r:id="rId26"/>
    <p:sldId id="831" r:id="rId27"/>
    <p:sldId id="833" r:id="rId28"/>
    <p:sldId id="832" r:id="rId29"/>
    <p:sldId id="830" r:id="rId30"/>
    <p:sldId id="849" r:id="rId31"/>
    <p:sldId id="862" r:id="rId32"/>
    <p:sldId id="867" r:id="rId33"/>
    <p:sldId id="868" r:id="rId34"/>
    <p:sldId id="841" r:id="rId35"/>
    <p:sldId id="836" r:id="rId36"/>
    <p:sldId id="843" r:id="rId37"/>
    <p:sldId id="736" r:id="rId38"/>
    <p:sldId id="869" r:id="rId39"/>
    <p:sldId id="735" r:id="rId40"/>
    <p:sldId id="818" r:id="rId41"/>
    <p:sldId id="835" r:id="rId42"/>
    <p:sldId id="702" r:id="rId4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yhajarvi Maaret" initials="PM" lastIdx="1" clrIdx="0">
    <p:extLst>
      <p:ext uri="{19B8F6BF-5375-455C-9EA6-DF929625EA0E}">
        <p15:presenceInfo xmlns:p15="http://schemas.microsoft.com/office/powerpoint/2012/main" userId="S::maaret.pyhajarvi@vaisala.com::ecc851b5-bf16-4ad7-80d9-5ddb8e10cea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99FF"/>
    <a:srgbClr val="B48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427" autoAdjust="0"/>
    <p:restoredTop sz="76012" autoAdjust="0"/>
  </p:normalViewPr>
  <p:slideViewPr>
    <p:cSldViewPr snapToGrid="0" snapToObjects="1">
      <p:cViewPr varScale="1">
        <p:scale>
          <a:sx n="110" d="100"/>
          <a:sy n="110" d="100"/>
        </p:scale>
        <p:origin x="230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B040096-F619-7E43-996A-8032D7F8C713}" type="datetimeFigureOut">
              <a:rPr lang="en-US" smtClean="0"/>
              <a:t>5/24/23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0C6101D-4955-2E49-AD11-CFDEC25BF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2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80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89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03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I" dirty="0"/>
              <a:t>Tombstones: 5</a:t>
            </a:r>
            <a:r>
              <a:rPr lang="en-FI" dirty="0">
                <a:sym typeface="Wingdings" pitchFamily="2" charset="2"/>
              </a:rPr>
              <a:t> IIIII and 50 -&gt; XXXXX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97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65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1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04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9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8C77DAB2-A782-6EA5-6965-C27ABD5E45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17" y="-6460"/>
            <a:ext cx="9156711" cy="68644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20" y="995708"/>
            <a:ext cx="9678069" cy="1470025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Master </a:t>
            </a:r>
            <a:r>
              <a:rPr lang="fi-FI" dirty="0" err="1"/>
              <a:t>title</a:t>
            </a:r>
            <a:r>
              <a:rPr lang="fi-FI" dirty="0"/>
              <a:t> </a:t>
            </a:r>
            <a:r>
              <a:rPr lang="fi-FI" dirty="0" err="1"/>
              <a:t>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DE9B7F-3D28-6647-B631-D412C406B9FB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180490-DEDF-FF6A-F970-DE288E17C562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8" name="Picture 7" descr="TwitterLogo_#55acee.png">
              <a:extLst>
                <a:ext uri="{FF2B5EF4-FFF2-40B4-BE49-F238E27FC236}">
                  <a16:creationId xmlns:a16="http://schemas.microsoft.com/office/drawing/2014/main" id="{C2E5D23D-DEFF-BAA7-FF99-2221C1051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F1C9BA8-1D3D-26D3-1B74-7EACD211BA76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215B228B-3ED0-CCCE-3061-5339C7B692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9E8A76-E569-F446-00A0-FEAD33431618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  <p:pic>
        <p:nvPicPr>
          <p:cNvPr id="16" name="Picture 15" descr="FairyGodmother.jpg">
            <a:extLst>
              <a:ext uri="{FF2B5EF4-FFF2-40B4-BE49-F238E27FC236}">
                <a16:creationId xmlns:a16="http://schemas.microsoft.com/office/drawing/2014/main" id="{9A7049B7-4D4F-3AC7-D484-A634E8E026F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21" y="2887072"/>
            <a:ext cx="3087414" cy="30103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6E895354-93E5-533B-0D44-EC6CDAEC6329}"/>
              </a:ext>
            </a:extLst>
          </p:cNvPr>
          <p:cNvSpPr txBox="1">
            <a:spLocks/>
          </p:cNvSpPr>
          <p:nvPr userDrawn="1"/>
        </p:nvSpPr>
        <p:spPr>
          <a:xfrm>
            <a:off x="5653280" y="3717709"/>
            <a:ext cx="5251666" cy="77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by </a:t>
            </a:r>
            <a:r>
              <a:rPr lang="en-US" dirty="0">
                <a:solidFill>
                  <a:schemeClr val="tx2"/>
                </a:solidFill>
                <a:latin typeface="+mn-lt"/>
              </a:rPr>
              <a:t>Maaret Pyhäjärvi</a:t>
            </a:r>
          </a:p>
        </p:txBody>
      </p:sp>
      <p:pic>
        <p:nvPicPr>
          <p:cNvPr id="18" name="Picture 17" descr="VaisalaLogo.jpg">
            <a:extLst>
              <a:ext uri="{FF2B5EF4-FFF2-40B4-BE49-F238E27FC236}">
                <a16:creationId xmlns:a16="http://schemas.microsoft.com/office/drawing/2014/main" id="{BB0EA119-4CCA-A333-76CB-C614CF93D90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68" y="4392268"/>
            <a:ext cx="1592572" cy="49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eapon&#10;&#10;Description automatically generated">
            <a:extLst>
              <a:ext uri="{FF2B5EF4-FFF2-40B4-BE49-F238E27FC236}">
                <a16:creationId xmlns:a16="http://schemas.microsoft.com/office/drawing/2014/main" id="{60B1942A-812A-C13A-F7DC-45E8110BFE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468"/>
            <a:ext cx="12171191" cy="686646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8DE9B7F-3D28-6647-B631-D412C406B9FB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180490-DEDF-FF6A-F970-DE288E17C562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8" name="Picture 7" descr="TwitterLogo_#55acee.png">
              <a:extLst>
                <a:ext uri="{FF2B5EF4-FFF2-40B4-BE49-F238E27FC236}">
                  <a16:creationId xmlns:a16="http://schemas.microsoft.com/office/drawing/2014/main" id="{C2E5D23D-DEFF-BAA7-FF99-2221C1051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F1C9BA8-1D3D-26D3-1B74-7EACD211BA76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215B228B-3ED0-CCCE-3061-5339C7B692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9E8A76-E569-F446-00A0-FEAD33431618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916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8C77DAB2-A782-6EA5-6965-C27ABD5E45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17" y="-6460"/>
            <a:ext cx="9156711" cy="68644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8DE9B7F-3D28-6647-B631-D412C406B9FB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180490-DEDF-FF6A-F970-DE288E17C562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8" name="Picture 7" descr="TwitterLogo_#55acee.png">
              <a:extLst>
                <a:ext uri="{FF2B5EF4-FFF2-40B4-BE49-F238E27FC236}">
                  <a16:creationId xmlns:a16="http://schemas.microsoft.com/office/drawing/2014/main" id="{C2E5D23D-DEFF-BAA7-FF99-2221C1051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F1C9BA8-1D3D-26D3-1B74-7EACD211BA76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215B228B-3ED0-CCCE-3061-5339C7B692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9E8A76-E569-F446-00A0-FEAD33431618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594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431A16-0938-2131-8547-3A32A8842A34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1A20EA-AB22-CA32-4DF7-948FFA6DD755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9" name="Picture 8" descr="TwitterLogo_#55acee.png">
              <a:extLst>
                <a:ext uri="{FF2B5EF4-FFF2-40B4-BE49-F238E27FC236}">
                  <a16:creationId xmlns:a16="http://schemas.microsoft.com/office/drawing/2014/main" id="{B2C0A367-B590-644D-CB1D-5F387FB20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2D6E02-F5E2-6516-056C-4EF425605E79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1" name="Picture 10" descr="Logo&#10;&#10;Description automatically generated">
              <a:extLst>
                <a:ext uri="{FF2B5EF4-FFF2-40B4-BE49-F238E27FC236}">
                  <a16:creationId xmlns:a16="http://schemas.microsoft.com/office/drawing/2014/main" id="{67DF76BA-A6B9-1093-8CCD-BC53D45736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CE445-4C89-89C5-DC5A-2AA0A174B202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827082"/>
            <a:ext cx="10363200" cy="1362075"/>
          </a:xfrm>
        </p:spPr>
        <p:txBody>
          <a:bodyPr anchor="t">
            <a:noAutofit/>
          </a:bodyPr>
          <a:lstStyle>
            <a:lvl1pPr algn="ctr">
              <a:defRPr sz="5400" b="1" cap="none">
                <a:latin typeface="Snell Roundhand"/>
                <a:cs typeface="Snell Roundhand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6FA1F12-71BB-F063-12CF-639E1D2FBA0A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268E89-D979-DF7F-A2F7-183C7DDA4218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10" name="Picture 9" descr="TwitterLogo_#55acee.png">
              <a:extLst>
                <a:ext uri="{FF2B5EF4-FFF2-40B4-BE49-F238E27FC236}">
                  <a16:creationId xmlns:a16="http://schemas.microsoft.com/office/drawing/2014/main" id="{C788FC6E-2053-9DFD-30D4-F127E684A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44013A-6E08-A9DB-723A-39B208F65036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93E9255F-2672-D83A-3045-C012A54A58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1A71B6-8F3B-5F9A-20D7-89BBFAEDF514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9C1B8F-C286-2BF8-9426-C2D008D1113D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61EF7-0D69-BEEF-7900-E4EB9F4CD80E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12" name="Picture 11" descr="TwitterLogo_#55acee.png">
              <a:extLst>
                <a:ext uri="{FF2B5EF4-FFF2-40B4-BE49-F238E27FC236}">
                  <a16:creationId xmlns:a16="http://schemas.microsoft.com/office/drawing/2014/main" id="{BA2EB7DC-7EB0-1B52-560F-5A5AFF462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0CF8E9-A35C-1113-6653-A7DBFBD69AAA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4" name="Picture 13" descr="Logo&#10;&#10;Description automatically generated">
              <a:extLst>
                <a:ext uri="{FF2B5EF4-FFF2-40B4-BE49-F238E27FC236}">
                  <a16:creationId xmlns:a16="http://schemas.microsoft.com/office/drawing/2014/main" id="{69910C33-F339-DB39-F865-4B5CAF37FB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399368-2649-22E8-A56D-4565E20DCBC4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881417-9EFA-F8BB-1038-F9A2B6532BCD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07EBE1-D7F4-B196-C6C9-B55DCD66FE82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8" name="Picture 7" descr="TwitterLogo_#55acee.png">
              <a:extLst>
                <a:ext uri="{FF2B5EF4-FFF2-40B4-BE49-F238E27FC236}">
                  <a16:creationId xmlns:a16="http://schemas.microsoft.com/office/drawing/2014/main" id="{B0E21DA1-2A56-8AA9-FB35-FD784DD48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5E54D93-8273-33FF-51C2-7B7EA810DB17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4ACAD2E0-3736-EC5F-6A52-A01506480C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2ECC32-D380-728F-F728-B1EEDBFBFB2C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AD46A7-D4B2-8109-738B-E5C35C175F13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6F1B80-5BCB-105D-C525-AEE36444C4DD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7" name="Picture 6" descr="TwitterLogo_#55acee.png">
              <a:extLst>
                <a:ext uri="{FF2B5EF4-FFF2-40B4-BE49-F238E27FC236}">
                  <a16:creationId xmlns:a16="http://schemas.microsoft.com/office/drawing/2014/main" id="{57EE9669-4C3B-4D7B-3CCE-0A1AED000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5C38DA4-CDE7-495D-A687-F0F7B3C53BE7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03AF0E11-6578-424F-8DFF-EB351C6019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EE5185-B81C-4638-F87E-1BB9414B1628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9CEEC6-D65E-5411-2943-A355EB9DB0D1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84B2DB-6354-6701-A86A-C6786DE0AA3F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10" name="Picture 9" descr="TwitterLogo_#55acee.png">
              <a:extLst>
                <a:ext uri="{FF2B5EF4-FFF2-40B4-BE49-F238E27FC236}">
                  <a16:creationId xmlns:a16="http://schemas.microsoft.com/office/drawing/2014/main" id="{5F1A8036-07A1-E5A3-DDC2-1B812A0B1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CD4714-D633-B333-11F3-9600034F1964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76FF78F9-CF7B-E6E5-778D-7E291E2387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44D3CD-5906-6A10-BB59-FE3F9CADF20F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5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310C8F-0996-EA47-40CA-D37CC932043B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4B691D-B47A-8AD8-8B57-60E9FDAFBCBB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10" name="Picture 9" descr="TwitterLogo_#55acee.png">
              <a:extLst>
                <a:ext uri="{FF2B5EF4-FFF2-40B4-BE49-F238E27FC236}">
                  <a16:creationId xmlns:a16="http://schemas.microsoft.com/office/drawing/2014/main" id="{23D7211E-275D-9429-BD1C-C5DE291A6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E48A4B-4C4E-6E92-30DE-67177B77A972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1138BC8A-1C58-D8CE-E1D8-96DAEB3ACA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CDF114-BE14-DA33-829E-EC79ABC81D6D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CE11C6-C92D-D16A-25C7-7C2F75809625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7DCEB5-DB44-721D-57B0-D7263BD35CF0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9" name="Picture 8" descr="TwitterLogo_#55acee.png">
              <a:extLst>
                <a:ext uri="{FF2B5EF4-FFF2-40B4-BE49-F238E27FC236}">
                  <a16:creationId xmlns:a16="http://schemas.microsoft.com/office/drawing/2014/main" id="{96AAB72D-7DA4-DCB0-0602-BD89FF63C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5797C1-452B-D332-97C3-D7C447A1F88F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1" name="Picture 10" descr="Logo&#10;&#10;Description automatically generated">
              <a:extLst>
                <a:ext uri="{FF2B5EF4-FFF2-40B4-BE49-F238E27FC236}">
                  <a16:creationId xmlns:a16="http://schemas.microsoft.com/office/drawing/2014/main" id="{23F46359-06E5-E9AA-3630-7D837AD042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CE1DD2-BE7E-1ADA-7151-319D5F355154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83C288-A2A6-A723-CDBC-1ACCB19B5D8C}"/>
              </a:ext>
            </a:extLst>
          </p:cNvPr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8207EA-B10D-5594-3A57-AF5BC4F108DB}"/>
                </a:ext>
              </a:extLst>
            </p:cNvPr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9" name="Picture 8" descr="TwitterLogo_#55acee.png">
              <a:extLst>
                <a:ext uri="{FF2B5EF4-FFF2-40B4-BE49-F238E27FC236}">
                  <a16:creationId xmlns:a16="http://schemas.microsoft.com/office/drawing/2014/main" id="{841B353E-04CD-F51D-8EF6-D637C4AA1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8F3117-0B12-FDF5-8CB7-26C263D02FF5}"/>
              </a:ext>
            </a:extLst>
          </p:cNvPr>
          <p:cNvGrpSpPr/>
          <p:nvPr userDrawn="1"/>
        </p:nvGrpSpPr>
        <p:grpSpPr>
          <a:xfrm>
            <a:off x="7688630" y="6230886"/>
            <a:ext cx="2389650" cy="369332"/>
            <a:chOff x="333672" y="6308728"/>
            <a:chExt cx="2389650" cy="369332"/>
          </a:xfrm>
        </p:grpSpPr>
        <p:pic>
          <p:nvPicPr>
            <p:cNvPr id="11" name="Picture 10" descr="Logo&#10;&#10;Description automatically generated">
              <a:extLst>
                <a:ext uri="{FF2B5EF4-FFF2-40B4-BE49-F238E27FC236}">
                  <a16:creationId xmlns:a16="http://schemas.microsoft.com/office/drawing/2014/main" id="{21E0CBA5-7908-716F-EF5C-8E7051D52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672" y="6364294"/>
              <a:ext cx="248673" cy="26690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EB2E30-D603-A800-2E49-3806FF48CAD0}"/>
                </a:ext>
              </a:extLst>
            </p:cNvPr>
            <p:cNvSpPr txBox="1"/>
            <p:nvPr userDrawn="1"/>
          </p:nvSpPr>
          <p:spPr>
            <a:xfrm>
              <a:off x="582345" y="6308728"/>
              <a:ext cx="21409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@maaretp@mas.to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unction_(computer_science)" TargetMode="External"/><Relationship Id="rId3" Type="http://schemas.openxmlformats.org/officeDocument/2006/relationships/hyperlink" Target="https://en.wikipedia.org/wiki/Metasyntactic_variable" TargetMode="External"/><Relationship Id="rId7" Type="http://schemas.openxmlformats.org/officeDocument/2006/relationships/hyperlink" Target="https://en.wikipedia.org/wiki/Variable_(computer_science)" TargetMode="External"/><Relationship Id="rId2" Type="http://schemas.openxmlformats.org/officeDocument/2006/relationships/hyperlink" Target="https://en.wikipedia.org/wiki/Help:IPA/English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n.wikipedia.org/wiki/Foo#cite_note-rfc3092-1" TargetMode="External"/><Relationship Id="rId5" Type="http://schemas.openxmlformats.org/officeDocument/2006/relationships/hyperlink" Target="https://en.wikipedia.org/wiki/Computer_programming" TargetMode="External"/><Relationship Id="rId4" Type="http://schemas.openxmlformats.org/officeDocument/2006/relationships/hyperlink" Target="https://en.wikipedia.org/wiki/Placeholder_name" TargetMode="External"/><Relationship Id="rId9" Type="http://schemas.openxmlformats.org/officeDocument/2006/relationships/hyperlink" Target="https://en.wikipedia.org/wiki/Command_(computing)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eg"/><Relationship Id="rId5" Type="http://schemas.openxmlformats.org/officeDocument/2006/relationships/image" Target="../media/image45.svg"/><Relationship Id="rId10" Type="http://schemas.openxmlformats.org/officeDocument/2006/relationships/image" Target="../media/image50.jpe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 dirty="0">
                <a:cs typeface="KG Manhattan Script"/>
              </a:rPr>
              <a:t>Let’s Do A Thing</a:t>
            </a:r>
            <a:br>
              <a:rPr lang="en-US" sz="8000" dirty="0">
                <a:cs typeface="KG Manhattan Script"/>
              </a:rPr>
            </a:br>
            <a:r>
              <a:rPr lang="en-US" dirty="0">
                <a:solidFill>
                  <a:schemeClr val="accent2"/>
                </a:solidFill>
                <a:latin typeface="KG No Matter What" panose="02000507000000020003" pitchFamily="2" charset="77"/>
                <a:cs typeface="KG Manhattan Script"/>
              </a:rPr>
              <a:t>and Call it Foo</a:t>
            </a:r>
            <a:endParaRPr lang="en-US" sz="8000" dirty="0">
              <a:solidFill>
                <a:schemeClr val="accent2"/>
              </a:solidFill>
              <a:latin typeface="KG No Matter What" panose="02000507000000020003" pitchFamily="2" charset="77"/>
              <a:cs typeface="KG Manhattan Script"/>
            </a:endParaRPr>
          </a:p>
        </p:txBody>
      </p:sp>
    </p:spTree>
    <p:extLst>
      <p:ext uri="{BB962C8B-B14F-4D97-AF65-F5344CB8AC3E}">
        <p14:creationId xmlns:p14="http://schemas.microsoft.com/office/powerpoint/2010/main" val="61787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A4C90-1BBE-D5EE-373F-09CF4B9F8DB3}"/>
              </a:ext>
            </a:extLst>
          </p:cNvPr>
          <p:cNvSpPr txBox="1"/>
          <p:nvPr/>
        </p:nvSpPr>
        <p:spPr>
          <a:xfrm>
            <a:off x="1082843" y="1213044"/>
            <a:ext cx="1110915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terms </a:t>
            </a:r>
            <a:r>
              <a:rPr lang="en-GB" sz="3200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foobar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2" tooltip="Help:IPA/English"/>
              </a:rPr>
              <a:t>/ˈfuːbɑːr/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), </a:t>
            </a:r>
            <a:r>
              <a:rPr lang="en-GB" sz="3200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foo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3200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bar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3200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baz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and others are used as 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3" tooltip="Metasyntactic variable"/>
              </a:rPr>
              <a:t>metasyntactic variables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4" tooltip="Placeholder name"/>
              </a:rPr>
              <a:t>placeholder names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5" tooltip="Computer programming"/>
              </a:rPr>
              <a:t>computer programming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or computer-related documentation.</a:t>
            </a:r>
            <a:r>
              <a:rPr lang="en-GB" sz="3200" b="0" i="0" u="none" strike="noStrike" baseline="30000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6"/>
              </a:rPr>
              <a:t>[1]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They have been used to name entities such as 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7" tooltip="Variable (computer science)"/>
              </a:rPr>
              <a:t>variables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8" tooltip="Function (computer science)"/>
              </a:rPr>
              <a:t>functions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GB" sz="3200" b="0" i="0" u="none" strike="noStrike" dirty="0">
                <a:solidFill>
                  <a:srgbClr val="0B0080"/>
                </a:solidFill>
                <a:effectLst/>
                <a:latin typeface="Arial" panose="020B0604020202020204" pitchFamily="34" charset="0"/>
                <a:hlinkClick r:id="rId9" tooltip="Command (computing)"/>
              </a:rPr>
              <a:t>commands</a:t>
            </a:r>
            <a: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whose </a:t>
            </a:r>
            <a:br>
              <a:rPr lang="en-GB" sz="32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sz="4800" b="0" i="0" u="none" strike="noStrike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exact identity is unimportant and serve only to demonstrate a concept</a:t>
            </a:r>
            <a:r>
              <a:rPr lang="en-GB" sz="4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FI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ADD00-C597-FF7C-94E5-E0EAD54EF663}"/>
              </a:ext>
            </a:extLst>
          </p:cNvPr>
          <p:cNvSpPr txBox="1"/>
          <p:nvPr/>
        </p:nvSpPr>
        <p:spPr>
          <a:xfrm>
            <a:off x="7390773" y="5275624"/>
            <a:ext cx="398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/>
              <a:t>https://en.wikipedia.org/wiki/Foobar</a:t>
            </a:r>
          </a:p>
        </p:txBody>
      </p:sp>
    </p:spTree>
    <p:extLst>
      <p:ext uri="{BB962C8B-B14F-4D97-AF65-F5344CB8AC3E}">
        <p14:creationId xmlns:p14="http://schemas.microsoft.com/office/powerpoint/2010/main" val="201222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AC14E8-835A-A06C-FB36-90D7077C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462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F22761-71BF-45D4-9E74-F0037D2FD223}"/>
              </a:ext>
            </a:extLst>
          </p:cNvPr>
          <p:cNvSpPr txBox="1"/>
          <p:nvPr/>
        </p:nvSpPr>
        <p:spPr>
          <a:xfrm>
            <a:off x="6497976" y="1333041"/>
            <a:ext cx="5161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000" dirty="0"/>
              <a:t>TESTING not TESTERS.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E54C8-7DE7-387C-158B-8E0767CB2D7B}"/>
              </a:ext>
            </a:extLst>
          </p:cNvPr>
          <p:cNvSpPr txBox="1"/>
          <p:nvPr/>
        </p:nvSpPr>
        <p:spPr>
          <a:xfrm>
            <a:off x="6497976" y="2487977"/>
            <a:ext cx="5161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dirty="0"/>
              <a:t>Developers are brilliant explorers.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B370E-DDB0-D4A1-4A39-958B70C067B3}"/>
              </a:ext>
            </a:extLst>
          </p:cNvPr>
          <p:cNvSpPr txBox="1"/>
          <p:nvPr/>
        </p:nvSpPr>
        <p:spPr>
          <a:xfrm>
            <a:off x="6207380" y="4036267"/>
            <a:ext cx="5694024" cy="206210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FI" sz="3200" dirty="0">
                <a:solidFill>
                  <a:schemeClr val="bg1"/>
                </a:solidFill>
              </a:rPr>
              <a:t>Testing is too important to be left for testers. Testing is too important to be left without testers. </a:t>
            </a:r>
          </a:p>
        </p:txBody>
      </p:sp>
    </p:spTree>
    <p:extLst>
      <p:ext uri="{BB962C8B-B14F-4D97-AF65-F5344CB8AC3E}">
        <p14:creationId xmlns:p14="http://schemas.microsoft.com/office/powerpoint/2010/main" val="304968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9AB9245-1BEA-FCAD-0E8B-8D3BFB75BF90}"/>
              </a:ext>
            </a:extLst>
          </p:cNvPr>
          <p:cNvGrpSpPr/>
          <p:nvPr/>
        </p:nvGrpSpPr>
        <p:grpSpPr>
          <a:xfrm>
            <a:off x="297109" y="1844856"/>
            <a:ext cx="7785346" cy="923330"/>
            <a:chOff x="297109" y="1844856"/>
            <a:chExt cx="7785346" cy="92333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4D7E192-0CBA-005D-021A-9168937F89BE}"/>
                </a:ext>
              </a:extLst>
            </p:cNvPr>
            <p:cNvCxnSpPr>
              <a:cxnSpLocks/>
            </p:cNvCxnSpPr>
            <p:nvPr/>
          </p:nvCxnSpPr>
          <p:spPr>
            <a:xfrm>
              <a:off x="2795752" y="2257286"/>
              <a:ext cx="5286703" cy="0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2FD5F8-5228-9DF9-1D95-C3713B12C830}"/>
                </a:ext>
              </a:extLst>
            </p:cNvPr>
            <p:cNvSpPr txBox="1"/>
            <p:nvPr/>
          </p:nvSpPr>
          <p:spPr>
            <a:xfrm>
              <a:off x="297109" y="1844856"/>
              <a:ext cx="21412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Stakeholders happy, </a:t>
              </a:r>
              <a:br>
                <a:rPr lang="en-FI" dirty="0"/>
              </a:br>
              <a:r>
                <a:rPr lang="en-FI" dirty="0"/>
                <a:t>even delighted 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D61A9A-05FB-9411-11D7-FC2DE2C341A6}"/>
              </a:ext>
            </a:extLst>
          </p:cNvPr>
          <p:cNvGrpSpPr/>
          <p:nvPr/>
        </p:nvGrpSpPr>
        <p:grpSpPr>
          <a:xfrm>
            <a:off x="297109" y="3340642"/>
            <a:ext cx="7822135" cy="646331"/>
            <a:chOff x="297109" y="3340642"/>
            <a:chExt cx="7822135" cy="64633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8F388A-C889-BEA8-4FBB-F953ABC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41" y="3805126"/>
              <a:ext cx="5286703" cy="0"/>
            </a:xfrm>
            <a:prstGeom prst="line">
              <a:avLst/>
            </a:prstGeom>
            <a:ln>
              <a:solidFill>
                <a:schemeClr val="accent6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A9DD9D-5C4C-1A60-E606-92FBCDDAF26E}"/>
                </a:ext>
              </a:extLst>
            </p:cNvPr>
            <p:cNvSpPr txBox="1"/>
            <p:nvPr/>
          </p:nvSpPr>
          <p:spPr>
            <a:xfrm>
              <a:off x="297109" y="3340642"/>
              <a:ext cx="214129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FI" dirty="0"/>
                <a:t>Good Team’s Output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642417-177C-65F0-3418-E2F9D68E861C}"/>
              </a:ext>
            </a:extLst>
          </p:cNvPr>
          <p:cNvGrpSpPr/>
          <p:nvPr/>
        </p:nvGrpSpPr>
        <p:grpSpPr>
          <a:xfrm>
            <a:off x="297109" y="5217486"/>
            <a:ext cx="7822135" cy="923330"/>
            <a:chOff x="297109" y="5217486"/>
            <a:chExt cx="7822135" cy="92333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89B11C-F3B0-E464-A5E0-062F5BB980BE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41" y="5679151"/>
              <a:ext cx="5286703" cy="0"/>
            </a:xfrm>
            <a:prstGeom prst="line">
              <a:avLst/>
            </a:prstGeom>
            <a:ln>
              <a:solidFill>
                <a:schemeClr val="accent5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5704BE-3700-DDB0-969A-4D4724FFDB9A}"/>
                </a:ext>
              </a:extLst>
            </p:cNvPr>
            <p:cNvSpPr txBox="1"/>
            <p:nvPr/>
          </p:nvSpPr>
          <p:spPr>
            <a:xfrm>
              <a:off x="297109" y="5217486"/>
              <a:ext cx="21412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Less than Good </a:t>
              </a:r>
              <a:br>
                <a:rPr lang="en-FI" dirty="0"/>
              </a:br>
              <a:r>
                <a:rPr lang="en-FI" dirty="0"/>
                <a:t>Team’s Output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AC6F70-6A35-0E00-CD0D-C06D5EEF6B01}"/>
              </a:ext>
            </a:extLst>
          </p:cNvPr>
          <p:cNvGrpSpPr/>
          <p:nvPr/>
        </p:nvGrpSpPr>
        <p:grpSpPr>
          <a:xfrm>
            <a:off x="4792717" y="2257286"/>
            <a:ext cx="7054575" cy="1545021"/>
            <a:chOff x="4792717" y="2257286"/>
            <a:chExt cx="7054575" cy="15450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BAC661-B4AE-F2DA-E779-6824ECD7C31C}"/>
                </a:ext>
              </a:extLst>
            </p:cNvPr>
            <p:cNvSpPr txBox="1"/>
            <p:nvPr/>
          </p:nvSpPr>
          <p:spPr>
            <a:xfrm>
              <a:off x="9670414" y="2768186"/>
              <a:ext cx="21768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800" b="1" dirty="0">
                  <a:solidFill>
                    <a:srgbClr val="00B050"/>
                  </a:solidFill>
                </a:rPr>
                <a:t>Results Gap</a:t>
              </a:r>
            </a:p>
          </p:txBody>
        </p:sp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42619699-BF7E-45A2-217B-E41CBFD8170E}"/>
                </a:ext>
              </a:extLst>
            </p:cNvPr>
            <p:cNvSpPr/>
            <p:nvPr/>
          </p:nvSpPr>
          <p:spPr>
            <a:xfrm>
              <a:off x="8495463" y="2257286"/>
              <a:ext cx="1061545" cy="1545021"/>
            </a:xfrm>
            <a:prstGeom prst="rightBrace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B453BE-0A0B-BE4D-50F5-323EC3F028A8}"/>
                </a:ext>
              </a:extLst>
            </p:cNvPr>
            <p:cNvSpPr txBox="1"/>
            <p:nvPr/>
          </p:nvSpPr>
          <p:spPr>
            <a:xfrm>
              <a:off x="4792717" y="2846540"/>
              <a:ext cx="1010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i="1" dirty="0"/>
                <a:t>Surprise!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432F6C-20AE-68C9-E456-F3EB515B2133}"/>
              </a:ext>
            </a:extLst>
          </p:cNvPr>
          <p:cNvGrpSpPr/>
          <p:nvPr/>
        </p:nvGrpSpPr>
        <p:grpSpPr>
          <a:xfrm>
            <a:off x="4112810" y="2215243"/>
            <a:ext cx="8015327" cy="3421860"/>
            <a:chOff x="4112810" y="2215243"/>
            <a:chExt cx="8015327" cy="3421860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0E328DCB-B33E-11DC-723D-AFCB386F7D4F}"/>
                </a:ext>
              </a:extLst>
            </p:cNvPr>
            <p:cNvSpPr/>
            <p:nvPr/>
          </p:nvSpPr>
          <p:spPr>
            <a:xfrm>
              <a:off x="8445060" y="2215243"/>
              <a:ext cx="1061545" cy="3421860"/>
            </a:xfrm>
            <a:prstGeom prst="rightBrace">
              <a:avLst>
                <a:gd name="adj1" fmla="val 8333"/>
                <a:gd name="adj2" fmla="val 68122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9B3976-BCB8-9BC3-4541-5C39EC5DFB0D}"/>
                </a:ext>
              </a:extLst>
            </p:cNvPr>
            <p:cNvSpPr txBox="1"/>
            <p:nvPr/>
          </p:nvSpPr>
          <p:spPr>
            <a:xfrm>
              <a:off x="9670413" y="4240592"/>
              <a:ext cx="2457724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800" dirty="0">
                  <a:solidFill>
                    <a:schemeClr val="accent6"/>
                  </a:solidFill>
                </a:rPr>
                <a:t>Results Gap</a:t>
              </a:r>
              <a:br>
                <a:rPr lang="en-FI" sz="2800" dirty="0"/>
              </a:br>
              <a:r>
                <a:rPr lang="en-FI" sz="2000" dirty="0"/>
                <a:t>on a Team that thinks </a:t>
              </a:r>
            </a:p>
            <a:p>
              <a:r>
                <a:rPr lang="en-FI" sz="2000" dirty="0"/>
                <a:t>Testers == Testing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9D106D-2D17-62D8-5FDE-5581C119F958}"/>
                </a:ext>
              </a:extLst>
            </p:cNvPr>
            <p:cNvSpPr txBox="1"/>
            <p:nvPr/>
          </p:nvSpPr>
          <p:spPr>
            <a:xfrm>
              <a:off x="4112810" y="4625312"/>
              <a:ext cx="2536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i="1" dirty="0"/>
                <a:t>Pick up the pizza boxes… 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3CBD95-0395-ABCE-EFB6-96578FDB5B26}"/>
              </a:ext>
            </a:extLst>
          </p:cNvPr>
          <p:cNvSpPr txBox="1"/>
          <p:nvPr/>
        </p:nvSpPr>
        <p:spPr>
          <a:xfrm>
            <a:off x="178676" y="350778"/>
            <a:ext cx="118661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4400" dirty="0">
                <a:latin typeface="KG No Matter What" panose="02000507000000020003" pitchFamily="2" charset="77"/>
              </a:rPr>
              <a:t>”Find (some of) What Others May Have </a:t>
            </a:r>
            <a:r>
              <a:rPr lang="fi-FI" sz="4400" dirty="0">
                <a:solidFill>
                  <a:schemeClr val="accent1"/>
                </a:solidFill>
                <a:latin typeface="KG No Matter What" panose="02000507000000020003" pitchFamily="2" charset="77"/>
              </a:rPr>
              <a:t>Missed</a:t>
            </a:r>
            <a:r>
              <a:rPr lang="fi-FI" sz="4400" dirty="0">
                <a:latin typeface="KG No Matter What" panose="02000507000000020003" pitchFamily="2" charset="77"/>
              </a:rPr>
              <a:t>”</a:t>
            </a:r>
            <a:endParaRPr lang="en-US" sz="4400" dirty="0">
              <a:latin typeface="KG No Matter What" panose="0200050700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2285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4D6C0F-2364-1DD2-41DD-E01A412BD945}"/>
              </a:ext>
            </a:extLst>
          </p:cNvPr>
          <p:cNvSpPr/>
          <p:nvPr/>
        </p:nvSpPr>
        <p:spPr>
          <a:xfrm>
            <a:off x="0" y="0"/>
            <a:ext cx="12192000" cy="68757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5D5A0-2069-38F6-73DB-F044F4B37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9" y="0"/>
            <a:ext cx="11827142" cy="687576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7CFFF5-7495-63F2-4888-904BF9FF47F4}"/>
              </a:ext>
            </a:extLst>
          </p:cNvPr>
          <p:cNvSpPr/>
          <p:nvPr/>
        </p:nvSpPr>
        <p:spPr>
          <a:xfrm>
            <a:off x="5731727" y="1639230"/>
            <a:ext cx="5820936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3200" dirty="0"/>
              <a:t>Guessing with power to accept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570259-CB91-D954-8E01-0281CD27E279}"/>
              </a:ext>
            </a:extLst>
          </p:cNvPr>
          <p:cNvCxnSpPr/>
          <p:nvPr/>
        </p:nvCxnSpPr>
        <p:spPr>
          <a:xfrm>
            <a:off x="3867531" y="1787103"/>
            <a:ext cx="0" cy="26762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455B56-DEB3-4D33-32E8-D870C00623AD}"/>
              </a:ext>
            </a:extLst>
          </p:cNvPr>
          <p:cNvSpPr/>
          <p:nvPr/>
        </p:nvSpPr>
        <p:spPr>
          <a:xfrm>
            <a:off x="5731727" y="3193047"/>
            <a:ext cx="5820936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3200" dirty="0"/>
              <a:t>For Mood: </a:t>
            </a:r>
            <a:br>
              <a:rPr lang="en-FI" sz="3200" dirty="0"/>
            </a:br>
            <a:r>
              <a:rPr lang="en-GB" sz="1600" dirty="0"/>
              <a:t>https://aboutmonica.com/blog/how-to-make-your-vs-code-sparkle/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71119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C05E6F-CF37-F425-FD83-669772DFEE31}"/>
              </a:ext>
            </a:extLst>
          </p:cNvPr>
          <p:cNvSpPr/>
          <p:nvPr/>
        </p:nvSpPr>
        <p:spPr>
          <a:xfrm>
            <a:off x="0" y="0"/>
            <a:ext cx="12192000" cy="68757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9D4594-63E7-73B5-31D6-6509141E9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77" y="-1"/>
            <a:ext cx="11818370" cy="687576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6DD2FB-2C94-0CE0-91AB-5F704709AA28}"/>
              </a:ext>
            </a:extLst>
          </p:cNvPr>
          <p:cNvSpPr/>
          <p:nvPr/>
        </p:nvSpPr>
        <p:spPr>
          <a:xfrm>
            <a:off x="5731727" y="2743201"/>
            <a:ext cx="5820936" cy="914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3200" dirty="0"/>
              <a:t>Who Am I?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5CFB48-0228-E792-B0B0-F8A75BCC78C4}"/>
              </a:ext>
            </a:extLst>
          </p:cNvPr>
          <p:cNvSpPr/>
          <p:nvPr/>
        </p:nvSpPr>
        <p:spPr>
          <a:xfrm>
            <a:off x="5731727" y="1639230"/>
            <a:ext cx="5820936" cy="914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3200" dirty="0"/>
              <a:t>Guessing with power to accept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CB55A9-94AA-A849-F75F-9E64E1F8E153}"/>
              </a:ext>
            </a:extLst>
          </p:cNvPr>
          <p:cNvSpPr/>
          <p:nvPr/>
        </p:nvSpPr>
        <p:spPr>
          <a:xfrm>
            <a:off x="5731727" y="3847172"/>
            <a:ext cx="5820936" cy="9144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sz="3200" dirty="0"/>
              <a:t>Fooing my program or the tool?</a:t>
            </a:r>
          </a:p>
        </p:txBody>
      </p:sp>
    </p:spTree>
    <p:extLst>
      <p:ext uri="{BB962C8B-B14F-4D97-AF65-F5344CB8AC3E}">
        <p14:creationId xmlns:p14="http://schemas.microsoft.com/office/powerpoint/2010/main" val="408513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94FF7B-CCAD-6EB7-ABD2-56EEC158D37F}"/>
              </a:ext>
            </a:extLst>
          </p:cNvPr>
          <p:cNvSpPr txBox="1"/>
          <p:nvPr/>
        </p:nvSpPr>
        <p:spPr>
          <a:xfrm>
            <a:off x="1533212" y="699703"/>
            <a:ext cx="91255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5400" b="1" dirty="0"/>
              <a:t>Note: </a:t>
            </a:r>
          </a:p>
          <a:p>
            <a:r>
              <a:rPr lang="en-FI" sz="5400" dirty="0"/>
              <a:t>…pillaging digital content without consent, compensation and attribution</a:t>
            </a:r>
          </a:p>
          <a:p>
            <a:endParaRPr lang="en-FI" sz="5400" dirty="0"/>
          </a:p>
          <a:p>
            <a:r>
              <a:rPr lang="en-FI" sz="5400" dirty="0"/>
              <a:t>Even if </a:t>
            </a:r>
            <a:r>
              <a:rPr lang="en-FI" sz="5400" i="1" dirty="0">
                <a:solidFill>
                  <a:schemeClr val="accent6"/>
                </a:solidFill>
              </a:rPr>
              <a:t>legal</a:t>
            </a:r>
            <a:r>
              <a:rPr lang="en-FI" sz="5400" i="1" dirty="0"/>
              <a:t> </a:t>
            </a:r>
            <a:r>
              <a:rPr lang="en-FI" sz="5400" dirty="0"/>
              <a:t>not </a:t>
            </a:r>
            <a:r>
              <a:rPr lang="en-FI" sz="5400" i="1" dirty="0">
                <a:solidFill>
                  <a:schemeClr val="accent1"/>
                </a:solidFill>
              </a:rPr>
              <a:t>ethical</a:t>
            </a:r>
            <a:r>
              <a:rPr lang="en-FI" sz="5400" i="1" dirty="0"/>
              <a:t>.</a:t>
            </a:r>
            <a:endParaRPr lang="en-FI" sz="5400" dirty="0"/>
          </a:p>
        </p:txBody>
      </p:sp>
    </p:spTree>
    <p:extLst>
      <p:ext uri="{BB962C8B-B14F-4D97-AF65-F5344CB8AC3E}">
        <p14:creationId xmlns:p14="http://schemas.microsoft.com/office/powerpoint/2010/main" val="390736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C71858-8CB8-66E0-FA42-D8D2E0512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612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A131BF-E932-52AB-8E59-4E9246D257B5}"/>
              </a:ext>
            </a:extLst>
          </p:cNvPr>
          <p:cNvSpPr txBox="1"/>
          <p:nvPr/>
        </p:nvSpPr>
        <p:spPr>
          <a:xfrm>
            <a:off x="1432467" y="4743450"/>
            <a:ext cx="71995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5400" dirty="0">
                <a:solidFill>
                  <a:schemeClr val="bg1"/>
                </a:solidFill>
              </a:rPr>
              <a:t>Computer Assisted Software Authorship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2D6BD9B-E766-04D4-55EC-C21FC9DE3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053" y="3429000"/>
            <a:ext cx="30734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BA7D5F-860B-62EA-D49C-B8CDF849AD35}"/>
              </a:ext>
            </a:extLst>
          </p:cNvPr>
          <p:cNvSpPr txBox="1"/>
          <p:nvPr/>
        </p:nvSpPr>
        <p:spPr>
          <a:xfrm>
            <a:off x="8415032" y="5962311"/>
            <a:ext cx="3507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>
                <a:solidFill>
                  <a:schemeClr val="bg1"/>
                </a:solidFill>
              </a:rPr>
              <a:t>https://github.com/features/copilot/</a:t>
            </a:r>
          </a:p>
        </p:txBody>
      </p:sp>
    </p:spTree>
    <p:extLst>
      <p:ext uri="{BB962C8B-B14F-4D97-AF65-F5344CB8AC3E}">
        <p14:creationId xmlns:p14="http://schemas.microsoft.com/office/powerpoint/2010/main" val="117702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50459-D917-C2B6-C9D8-0C2283CB3C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417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A36FC7A-FF3B-B96E-0FEC-4AC162CBC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53" y="3039533"/>
            <a:ext cx="1474836" cy="126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D0079-433C-3AC0-AF17-F0C67DA3B57E}"/>
              </a:ext>
            </a:extLst>
          </p:cNvPr>
          <p:cNvSpPr txBox="1"/>
          <p:nvPr/>
        </p:nvSpPr>
        <p:spPr>
          <a:xfrm>
            <a:off x="1139871" y="4470400"/>
            <a:ext cx="4328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800" dirty="0">
                <a:solidFill>
                  <a:schemeClr val="bg1"/>
                </a:solidFill>
              </a:rPr>
              <a:t>CTRL+enter for alternatives</a:t>
            </a:r>
          </a:p>
        </p:txBody>
      </p:sp>
    </p:spTree>
    <p:extLst>
      <p:ext uri="{BB962C8B-B14F-4D97-AF65-F5344CB8AC3E}">
        <p14:creationId xmlns:p14="http://schemas.microsoft.com/office/powerpoint/2010/main" val="305195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D8FFA6-3D79-7BE7-7757-BB0C1E1A1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9CA4D7-B5BF-D091-B0B5-D84C9FDEE701}"/>
              </a:ext>
            </a:extLst>
          </p:cNvPr>
          <p:cNvSpPr txBox="1"/>
          <p:nvPr/>
        </p:nvSpPr>
        <p:spPr>
          <a:xfrm>
            <a:off x="7501467" y="237067"/>
            <a:ext cx="4328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800" dirty="0">
                <a:solidFill>
                  <a:schemeClr val="bg1"/>
                </a:solidFill>
              </a:rPr>
              <a:t>CTRL+enter for alternatives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7488C-4CE6-060A-10C9-F2EBB4C8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733" y="4462186"/>
            <a:ext cx="4648201" cy="1316305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21810B-CBE0-8AA2-D28D-1BEB209A5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733" y="1520712"/>
            <a:ext cx="4648200" cy="2704407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57F2469-A1FD-7FE2-07CE-9A4280B75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720" y="129520"/>
            <a:ext cx="1474836" cy="126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77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E7578-2DC2-D048-FBAB-3452FAAA1801}"/>
              </a:ext>
            </a:extLst>
          </p:cNvPr>
          <p:cNvSpPr txBox="1"/>
          <p:nvPr/>
        </p:nvSpPr>
        <p:spPr>
          <a:xfrm>
            <a:off x="211437" y="1997839"/>
            <a:ext cx="45095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sz="7200" dirty="0"/>
              <a:t>WE are </a:t>
            </a:r>
          </a:p>
          <a:p>
            <a:pPr algn="ctr"/>
            <a:r>
              <a:rPr lang="en-FI" sz="72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accountable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64614-7EF2-3B89-7DDA-BF229B9EFF90}"/>
              </a:ext>
            </a:extLst>
          </p:cNvPr>
          <p:cNvSpPr txBox="1"/>
          <p:nvPr/>
        </p:nvSpPr>
        <p:spPr>
          <a:xfrm>
            <a:off x="5213131" y="1536174"/>
            <a:ext cx="690330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400" dirty="0"/>
              <a:t>1. Intent / Implementation</a:t>
            </a:r>
          </a:p>
          <a:p>
            <a:r>
              <a:rPr lang="en-FI" sz="4400" dirty="0"/>
              <a:t>2. Domain for the Layman</a:t>
            </a:r>
          </a:p>
          <a:p>
            <a:r>
              <a:rPr lang="en-FI" sz="4400" dirty="0"/>
              <a:t>3. Domain for the Expert</a:t>
            </a:r>
          </a:p>
          <a:p>
            <a:r>
              <a:rPr lang="en-FI" sz="4400" dirty="0"/>
              <a:t>4. Reference Implementation</a:t>
            </a:r>
          </a:p>
          <a:p>
            <a:r>
              <a:rPr lang="en-FI" sz="4400" dirty="0"/>
              <a:t>5. People Filtering</a:t>
            </a:r>
          </a:p>
        </p:txBody>
      </p:sp>
    </p:spTree>
    <p:extLst>
      <p:ext uri="{BB962C8B-B14F-4D97-AF65-F5344CB8AC3E}">
        <p14:creationId xmlns:p14="http://schemas.microsoft.com/office/powerpoint/2010/main" val="3820254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368AC-6084-0CC6-AEE1-8727B5BB9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189" y="1447676"/>
            <a:ext cx="12212189" cy="4408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9E0B40-D1DB-2E6E-2E4F-43A3D0E5ECB5}"/>
              </a:ext>
            </a:extLst>
          </p:cNvPr>
          <p:cNvSpPr txBox="1"/>
          <p:nvPr/>
        </p:nvSpPr>
        <p:spPr>
          <a:xfrm>
            <a:off x="2709334" y="287867"/>
            <a:ext cx="77989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7200" dirty="0">
                <a:solidFill>
                  <a:schemeClr val="accent2"/>
                </a:solidFill>
                <a:latin typeface="KG No Matter What" panose="02000507000000020003" pitchFamily="2" charset="77"/>
              </a:rPr>
              <a:t>Say We Have This…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F606E-2CEE-E331-5E3E-7F39D1ED1F45}"/>
              </a:ext>
            </a:extLst>
          </p:cNvPr>
          <p:cNvSpPr txBox="1"/>
          <p:nvPr/>
        </p:nvSpPr>
        <p:spPr>
          <a:xfrm>
            <a:off x="9181239" y="4687049"/>
            <a:ext cx="30107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800" dirty="0">
                <a:solidFill>
                  <a:schemeClr val="bg1"/>
                </a:solidFill>
                <a:latin typeface="KG No Matter What" panose="02000507000000020003" pitchFamily="2" charset="77"/>
              </a:rPr>
              <a:t>Done?</a:t>
            </a:r>
          </a:p>
        </p:txBody>
      </p:sp>
    </p:spTree>
    <p:extLst>
      <p:ext uri="{BB962C8B-B14F-4D97-AF65-F5344CB8AC3E}">
        <p14:creationId xmlns:p14="http://schemas.microsoft.com/office/powerpoint/2010/main" val="4179647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0801D5-4FAB-13E6-3B5B-320BD2278045}"/>
              </a:ext>
            </a:extLst>
          </p:cNvPr>
          <p:cNvSpPr/>
          <p:nvPr/>
        </p:nvSpPr>
        <p:spPr>
          <a:xfrm>
            <a:off x="0" y="5909733"/>
            <a:ext cx="12192000" cy="948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0F3C81-B9F4-BAF9-3496-97417EC6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80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CC98D-E7FC-88F7-E2BE-594E77CED818}"/>
              </a:ext>
            </a:extLst>
          </p:cNvPr>
          <p:cNvSpPr txBox="1"/>
          <p:nvPr/>
        </p:nvSpPr>
        <p:spPr>
          <a:xfrm>
            <a:off x="8720775" y="2513960"/>
            <a:ext cx="255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3200" dirty="0">
                <a:solidFill>
                  <a:schemeClr val="bg1"/>
                </a:solidFill>
                <a:latin typeface="KG No Matter What" panose="02000507000000020003" pitchFamily="2" charset="77"/>
              </a:rPr>
              <a:t>Some 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CF0B0-8067-C8EA-853B-1AEECACE9BFE}"/>
              </a:ext>
            </a:extLst>
          </p:cNvPr>
          <p:cNvSpPr txBox="1"/>
          <p:nvPr/>
        </p:nvSpPr>
        <p:spPr>
          <a:xfrm>
            <a:off x="9181239" y="5457261"/>
            <a:ext cx="30107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800" dirty="0">
                <a:solidFill>
                  <a:schemeClr val="accent1"/>
                </a:solidFill>
                <a:latin typeface="KG No Matter What" panose="02000507000000020003" pitchFamily="2" charset="77"/>
              </a:rPr>
              <a:t>Done?</a:t>
            </a:r>
          </a:p>
        </p:txBody>
      </p:sp>
    </p:spTree>
    <p:extLst>
      <p:ext uri="{BB962C8B-B14F-4D97-AF65-F5344CB8AC3E}">
        <p14:creationId xmlns:p14="http://schemas.microsoft.com/office/powerpoint/2010/main" val="563602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3DF8F-4A05-C5FC-FE41-0826A9B25ACA}"/>
              </a:ext>
            </a:extLst>
          </p:cNvPr>
          <p:cNvSpPr txBox="1"/>
          <p:nvPr/>
        </p:nvSpPr>
        <p:spPr>
          <a:xfrm>
            <a:off x="1898181" y="820658"/>
            <a:ext cx="8781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7200" dirty="0">
                <a:solidFill>
                  <a:schemeClr val="accent1"/>
                </a:solidFill>
                <a:latin typeface="KG No Matter What" panose="02000507000000020003" pitchFamily="2" charset="77"/>
              </a:rPr>
              <a:t>Shapes</a:t>
            </a:r>
            <a:r>
              <a:rPr lang="en-FI" sz="7200" dirty="0">
                <a:latin typeface="KG No Matter What" panose="02000507000000020003" pitchFamily="2" charset="77"/>
              </a:rPr>
              <a:t> of Approaches</a:t>
            </a:r>
            <a:endParaRPr lang="en-FI" sz="7200" dirty="0">
              <a:solidFill>
                <a:schemeClr val="accent1"/>
              </a:solidFill>
              <a:latin typeface="KG No Matter What" panose="02000507000000020003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CF9A2-E691-54DB-F05A-13EC6ED5347C}"/>
              </a:ext>
            </a:extLst>
          </p:cNvPr>
          <p:cNvSpPr txBox="1"/>
          <p:nvPr/>
        </p:nvSpPr>
        <p:spPr>
          <a:xfrm>
            <a:off x="897707" y="2508956"/>
            <a:ext cx="1593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600" dirty="0"/>
              <a:t>Asserts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ACD65-A940-08A6-6D3A-121F67286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61" y="2419372"/>
            <a:ext cx="3597360" cy="719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18A034-6E5C-6735-55A3-215091851B86}"/>
              </a:ext>
            </a:extLst>
          </p:cNvPr>
          <p:cNvSpPr txBox="1"/>
          <p:nvPr/>
        </p:nvSpPr>
        <p:spPr>
          <a:xfrm>
            <a:off x="437196" y="3823327"/>
            <a:ext cx="2053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600" dirty="0"/>
              <a:t>Approvals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C97FE0-4505-2B6A-99DD-630AE31B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015" y="4837013"/>
            <a:ext cx="7772400" cy="13206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E792D6-6508-AA91-B544-2D74CB8FD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261" y="3555942"/>
            <a:ext cx="4029042" cy="1029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308641-4DD7-2FB8-E237-40B4A8852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536" y="2419372"/>
            <a:ext cx="4423221" cy="132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81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3DF8F-4A05-C5FC-FE41-0826A9B25ACA}"/>
              </a:ext>
            </a:extLst>
          </p:cNvPr>
          <p:cNvSpPr txBox="1"/>
          <p:nvPr/>
        </p:nvSpPr>
        <p:spPr>
          <a:xfrm>
            <a:off x="2412940" y="652874"/>
            <a:ext cx="73661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7200" dirty="0">
                <a:latin typeface="KG No Matter What" panose="02000507000000020003" pitchFamily="2" charset="77"/>
              </a:rPr>
              <a:t>From </a:t>
            </a:r>
            <a:r>
              <a:rPr lang="en-FI" sz="7200" dirty="0">
                <a:solidFill>
                  <a:schemeClr val="accent6"/>
                </a:solidFill>
                <a:latin typeface="KG No Matter What" panose="02000507000000020003" pitchFamily="2" charset="77"/>
              </a:rPr>
              <a:t>One</a:t>
            </a:r>
            <a:r>
              <a:rPr lang="en-FI" sz="7200" dirty="0">
                <a:latin typeface="KG No Matter What" panose="02000507000000020003" pitchFamily="2" charset="77"/>
              </a:rPr>
              <a:t> to </a:t>
            </a:r>
            <a:r>
              <a:rPr lang="en-FI" sz="7200" dirty="0">
                <a:solidFill>
                  <a:schemeClr val="accent1"/>
                </a:solidFill>
                <a:latin typeface="KG No Matter What" panose="02000507000000020003" pitchFamily="2" charset="77"/>
              </a:rPr>
              <a:t>Many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94BE8-B37C-99AA-974E-9C0A7257A406}"/>
              </a:ext>
            </a:extLst>
          </p:cNvPr>
          <p:cNvSpPr txBox="1"/>
          <p:nvPr/>
        </p:nvSpPr>
        <p:spPr>
          <a:xfrm>
            <a:off x="897707" y="2187223"/>
            <a:ext cx="1593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600" dirty="0"/>
              <a:t>Asserts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9C9C5-2CFF-6C6F-4519-6D3797994CAE}"/>
              </a:ext>
            </a:extLst>
          </p:cNvPr>
          <p:cNvSpPr txBox="1"/>
          <p:nvPr/>
        </p:nvSpPr>
        <p:spPr>
          <a:xfrm>
            <a:off x="437196" y="3501594"/>
            <a:ext cx="2053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3600" dirty="0"/>
              <a:t>Approvals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05870B-C1BC-E858-B504-EDEFAC933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826" y="2022574"/>
            <a:ext cx="6251474" cy="937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E4B734-D244-DD4B-26AA-6C109CC88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826" y="3028214"/>
            <a:ext cx="7772400" cy="295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EE516F-C3AB-22E5-1667-7EC997862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837" y="5947194"/>
            <a:ext cx="5826673" cy="820658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46324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C8461C-FF09-3D85-E37A-F48CBFE69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C1B306-88A4-02B8-356E-018F99C8A1A6}"/>
              </a:ext>
            </a:extLst>
          </p:cNvPr>
          <p:cNvSpPr txBox="1"/>
          <p:nvPr/>
        </p:nvSpPr>
        <p:spPr>
          <a:xfrm>
            <a:off x="8260515" y="2844225"/>
            <a:ext cx="3016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dirty="0">
                <a:solidFill>
                  <a:schemeClr val="bg1"/>
                </a:solidFill>
                <a:latin typeface="KG No Matter What" panose="02000507000000020003" pitchFamily="2" charset="77"/>
              </a:rPr>
              <a:t>Hypothesis</a:t>
            </a:r>
          </a:p>
        </p:txBody>
      </p:sp>
    </p:spTree>
    <p:extLst>
      <p:ext uri="{BB962C8B-B14F-4D97-AF65-F5344CB8AC3E}">
        <p14:creationId xmlns:p14="http://schemas.microsoft.com/office/powerpoint/2010/main" val="2470019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94FF7B-CCAD-6EB7-ABD2-56EEC158D37F}"/>
              </a:ext>
            </a:extLst>
          </p:cNvPr>
          <p:cNvSpPr txBox="1"/>
          <p:nvPr/>
        </p:nvSpPr>
        <p:spPr>
          <a:xfrm>
            <a:off x="1533212" y="1574347"/>
            <a:ext cx="91255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5400" b="1" dirty="0"/>
              <a:t>Note: </a:t>
            </a:r>
          </a:p>
          <a:p>
            <a:r>
              <a:rPr lang="en-FI" sz="5400" dirty="0"/>
              <a:t>…developer intent.  It might not do what you wanted it to do. </a:t>
            </a:r>
          </a:p>
        </p:txBody>
      </p:sp>
    </p:spTree>
    <p:extLst>
      <p:ext uri="{BB962C8B-B14F-4D97-AF65-F5344CB8AC3E}">
        <p14:creationId xmlns:p14="http://schemas.microsoft.com/office/powerpoint/2010/main" val="2356215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73E22-D6F5-55A3-E1D9-3A0536CCCFC7}"/>
              </a:ext>
            </a:extLst>
          </p:cNvPr>
          <p:cNvSpPr txBox="1"/>
          <p:nvPr/>
        </p:nvSpPr>
        <p:spPr>
          <a:xfrm>
            <a:off x="1469985" y="1710176"/>
            <a:ext cx="104519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chemeClr val="accent1"/>
                </a:solidFill>
              </a:rPr>
              <a:t>Part 1</a:t>
            </a:r>
            <a:r>
              <a:rPr lang="en-GB" sz="4000" dirty="0">
                <a:solidFill>
                  <a:srgbClr val="1F2328"/>
                </a:solidFill>
              </a:rPr>
              <a:t>. 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Review for correctness and conciseness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Input -&gt; Output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Rules of behavior boundaries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Coverage 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IIIII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Sampling vs wide nets (approvals)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</a:t>
            </a:r>
            <a:r>
              <a:rPr lang="en-GB" sz="4000" dirty="0">
                <a:solidFill>
                  <a:schemeClr val="accent1"/>
                </a:solidFill>
              </a:rPr>
              <a:t>VI</a:t>
            </a:r>
            <a:r>
              <a:rPr lang="en-GB" sz="4000" dirty="0">
                <a:solidFill>
                  <a:srgbClr val="1F2328"/>
                </a:solidFill>
              </a:rPr>
              <a:t>. Properties</a:t>
            </a:r>
            <a:endParaRPr lang="en-GB" sz="4000" b="0" i="0" u="none" strike="noStrike" dirty="0">
              <a:solidFill>
                <a:srgbClr val="1F2328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0C10E-01FA-E7B5-B123-498D57E2EF65}"/>
              </a:ext>
            </a:extLst>
          </p:cNvPr>
          <p:cNvSpPr txBox="1"/>
          <p:nvPr/>
        </p:nvSpPr>
        <p:spPr>
          <a:xfrm>
            <a:off x="596096" y="786846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0" i="0" u="none" strike="noStrike" dirty="0">
                <a:solidFill>
                  <a:srgbClr val="1F2328"/>
                </a:solidFill>
                <a:effectLst/>
                <a:latin typeface="KG No Matter What" panose="02000507000000020003" pitchFamily="2" charset="77"/>
              </a:rPr>
              <a:t>Developer intent</a:t>
            </a:r>
            <a:endParaRPr lang="en-FI" sz="5400" dirty="0">
              <a:latin typeface="KG No Matter What" panose="0200050700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65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62077FD-1076-E1DA-A6E2-03A00AECA3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95" b="6063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B9DC53-63F1-1590-1BEC-1B2E71B4A7C4}"/>
              </a:ext>
            </a:extLst>
          </p:cNvPr>
          <p:cNvSpPr txBox="1"/>
          <p:nvPr/>
        </p:nvSpPr>
        <p:spPr>
          <a:xfrm>
            <a:off x="5106228" y="5450821"/>
            <a:ext cx="453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/>
              <a:t>https://en.wikipedia.org/wiki/Roman_numerals</a:t>
            </a:r>
          </a:p>
        </p:txBody>
      </p:sp>
    </p:spTree>
    <p:extLst>
      <p:ext uri="{BB962C8B-B14F-4D97-AF65-F5344CB8AC3E}">
        <p14:creationId xmlns:p14="http://schemas.microsoft.com/office/powerpoint/2010/main" val="863361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EC9BFF58-5E65-B96C-DA25-E0903F63DF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5" b="13128"/>
          <a:stretch/>
        </p:blipFill>
        <p:spPr>
          <a:xfrm>
            <a:off x="20" y="283028"/>
            <a:ext cx="12191980" cy="65749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6314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C1DC9F-68A0-78BE-26AD-B0187BB37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768023"/>
            <a:ext cx="7467600" cy="101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45EE60-59E1-362A-5B67-F866374BE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900" y="2815523"/>
            <a:ext cx="7442200" cy="952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1B2562-D353-456E-8EA1-2F11BF23C5C6}"/>
              </a:ext>
            </a:extLst>
          </p:cNvPr>
          <p:cNvSpPr txBox="1"/>
          <p:nvPr/>
        </p:nvSpPr>
        <p:spPr>
          <a:xfrm>
            <a:off x="2574042" y="892219"/>
            <a:ext cx="7043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7200" dirty="0">
                <a:latin typeface="KG No Matter What" panose="02000507000000020003" pitchFamily="2" charset="77"/>
              </a:rPr>
              <a:t>Upper Boundary?</a:t>
            </a:r>
          </a:p>
        </p:txBody>
      </p:sp>
    </p:spTree>
    <p:extLst>
      <p:ext uri="{BB962C8B-B14F-4D97-AF65-F5344CB8AC3E}">
        <p14:creationId xmlns:p14="http://schemas.microsoft.com/office/powerpoint/2010/main" val="3586814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8D7723A9-A189-7D56-38D1-75BCC4415D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2" b="13128"/>
          <a:stretch/>
        </p:blipFill>
        <p:spPr>
          <a:xfrm>
            <a:off x="20" y="135464"/>
            <a:ext cx="12191980" cy="6587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9152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6C28E5-8C1E-EB02-CEE1-D67E23B7140C}"/>
              </a:ext>
            </a:extLst>
          </p:cNvPr>
          <p:cNvSpPr txBox="1"/>
          <p:nvPr/>
        </p:nvSpPr>
        <p:spPr>
          <a:xfrm>
            <a:off x="8822375" y="3429000"/>
            <a:ext cx="2553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3200" dirty="0">
                <a:solidFill>
                  <a:schemeClr val="bg1"/>
                </a:solidFill>
                <a:latin typeface="KG No Matter What" panose="02000507000000020003" pitchFamily="2" charset="77"/>
              </a:rPr>
              <a:t>References…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D3B91-BA95-1F3A-14D4-BCBB55A2AA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98"/>
          <a:stretch/>
        </p:blipFill>
        <p:spPr>
          <a:xfrm>
            <a:off x="0" y="457054"/>
            <a:ext cx="12192000" cy="5666875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CCD71C-74AE-9F2D-789C-AEA89CC4AC53}"/>
              </a:ext>
            </a:extLst>
          </p:cNvPr>
          <p:cNvSpPr/>
          <p:nvPr/>
        </p:nvSpPr>
        <p:spPr>
          <a:xfrm>
            <a:off x="0" y="0"/>
            <a:ext cx="12192000" cy="4516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4BD8B3-EDFA-8E62-61CE-1199CDAE7C54}"/>
              </a:ext>
            </a:extLst>
          </p:cNvPr>
          <p:cNvSpPr/>
          <p:nvPr/>
        </p:nvSpPr>
        <p:spPr>
          <a:xfrm>
            <a:off x="11017" y="6123928"/>
            <a:ext cx="12180983" cy="7340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D5907-1F02-78E9-6EF2-515D42598E48}"/>
              </a:ext>
            </a:extLst>
          </p:cNvPr>
          <p:cNvSpPr txBox="1"/>
          <p:nvPr/>
        </p:nvSpPr>
        <p:spPr>
          <a:xfrm>
            <a:off x="8822375" y="2694930"/>
            <a:ext cx="3099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dirty="0">
                <a:solidFill>
                  <a:schemeClr val="bg1"/>
                </a:solidFill>
                <a:latin typeface="KG No Matter What" panose="02000507000000020003" pitchFamily="2" charset="77"/>
              </a:rPr>
              <a:t>References…</a:t>
            </a:r>
          </a:p>
        </p:txBody>
      </p:sp>
    </p:spTree>
    <p:extLst>
      <p:ext uri="{BB962C8B-B14F-4D97-AF65-F5344CB8AC3E}">
        <p14:creationId xmlns:p14="http://schemas.microsoft.com/office/powerpoint/2010/main" val="4055273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1BFE63-6FCC-4D2F-DB09-CC819464C4E0}"/>
              </a:ext>
            </a:extLst>
          </p:cNvPr>
          <p:cNvSpPr/>
          <p:nvPr/>
        </p:nvSpPr>
        <p:spPr>
          <a:xfrm>
            <a:off x="0" y="5909733"/>
            <a:ext cx="12192000" cy="948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EDDCA-B779-BAFD-9623-3D9BFC1E2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122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E81FB4-DCF5-C6F4-70F0-AB6842C26633}"/>
              </a:ext>
            </a:extLst>
          </p:cNvPr>
          <p:cNvSpPr txBox="1"/>
          <p:nvPr/>
        </p:nvSpPr>
        <p:spPr>
          <a:xfrm>
            <a:off x="7722825" y="2081463"/>
            <a:ext cx="3641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dirty="0">
                <a:solidFill>
                  <a:schemeClr val="bg1"/>
                </a:solidFill>
                <a:latin typeface="KG No Matter What" panose="02000507000000020003" pitchFamily="2" charset="77"/>
              </a:rPr>
              <a:t>References…</a:t>
            </a:r>
          </a:p>
        </p:txBody>
      </p:sp>
    </p:spTree>
    <p:extLst>
      <p:ext uri="{BB962C8B-B14F-4D97-AF65-F5344CB8AC3E}">
        <p14:creationId xmlns:p14="http://schemas.microsoft.com/office/powerpoint/2010/main" val="216241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6D0E01-B906-E9DC-BD98-1C23CEECC5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38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048EBC-569D-70F8-2A47-A3965BFC724E}"/>
              </a:ext>
            </a:extLst>
          </p:cNvPr>
          <p:cNvSpPr txBox="1"/>
          <p:nvPr/>
        </p:nvSpPr>
        <p:spPr>
          <a:xfrm>
            <a:off x="8494005" y="1423930"/>
            <a:ext cx="3190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dirty="0">
                <a:solidFill>
                  <a:schemeClr val="bg1"/>
                </a:solidFill>
                <a:latin typeface="KG No Matter What" panose="02000507000000020003" pitchFamily="2" charset="77"/>
              </a:rPr>
              <a:t>References…</a:t>
            </a:r>
          </a:p>
        </p:txBody>
      </p:sp>
    </p:spTree>
    <p:extLst>
      <p:ext uri="{BB962C8B-B14F-4D97-AF65-F5344CB8AC3E}">
        <p14:creationId xmlns:p14="http://schemas.microsoft.com/office/powerpoint/2010/main" val="2470005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19E96E-779D-9A7F-4E53-8222AB1E0E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7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5E006B-386E-8814-34B4-C9F5AB1DA78E}"/>
              </a:ext>
            </a:extLst>
          </p:cNvPr>
          <p:cNvSpPr txBox="1"/>
          <p:nvPr/>
        </p:nvSpPr>
        <p:spPr>
          <a:xfrm>
            <a:off x="7752523" y="3429000"/>
            <a:ext cx="4086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4000" dirty="0">
                <a:solidFill>
                  <a:schemeClr val="bg1"/>
                </a:solidFill>
                <a:latin typeface="KG No Matter What" panose="02000507000000020003" pitchFamily="2" charset="77"/>
              </a:rPr>
              <a:t>ApprovalTests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E8A8B-E2EC-C9FE-F98E-7215E972C9B2}"/>
              </a:ext>
            </a:extLst>
          </p:cNvPr>
          <p:cNvSpPr txBox="1"/>
          <p:nvPr/>
        </p:nvSpPr>
        <p:spPr>
          <a:xfrm>
            <a:off x="9181239" y="5411450"/>
            <a:ext cx="30107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800" dirty="0">
                <a:solidFill>
                  <a:schemeClr val="accent1"/>
                </a:solidFill>
                <a:latin typeface="KG No Matter What" panose="02000507000000020003" pitchFamily="2" charset="77"/>
              </a:rPr>
              <a:t>Done?</a:t>
            </a:r>
          </a:p>
        </p:txBody>
      </p:sp>
    </p:spTree>
    <p:extLst>
      <p:ext uri="{BB962C8B-B14F-4D97-AF65-F5344CB8AC3E}">
        <p14:creationId xmlns:p14="http://schemas.microsoft.com/office/powerpoint/2010/main" val="3655931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AE9B53-3F38-ACA7-B14B-CC74AC266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28"/>
          <a:stretch/>
        </p:blipFill>
        <p:spPr bwMode="auto">
          <a:xfrm>
            <a:off x="28544" y="1"/>
            <a:ext cx="606745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4C7975-7ED7-3570-CE9E-BE95F7B8E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0" t="15720" r="30825" b="18737"/>
          <a:stretch/>
        </p:blipFill>
        <p:spPr bwMode="auto">
          <a:xfrm>
            <a:off x="5980151" y="0"/>
            <a:ext cx="62118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4DDE3D-9352-BCDF-8CE3-B48CFAA9A9AE}"/>
              </a:ext>
            </a:extLst>
          </p:cNvPr>
          <p:cNvSpPr txBox="1"/>
          <p:nvPr/>
        </p:nvSpPr>
        <p:spPr>
          <a:xfrm rot="16200000">
            <a:off x="2809525" y="3687373"/>
            <a:ext cx="551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2400" dirty="0">
                <a:solidFill>
                  <a:schemeClr val="bg1"/>
                </a:solidFill>
              </a:rPr>
              <a:t>Domain rules: 1V </a:t>
            </a:r>
            <a:r>
              <a:rPr lang="en-FI" sz="2400" dirty="0">
                <a:solidFill>
                  <a:schemeClr val="bg1"/>
                </a:solidFill>
                <a:sym typeface="Wingdings" pitchFamily="2" charset="2"/>
              </a:rPr>
              <a:t> IIII in clock design as per orders of King Louis XIV of France </a:t>
            </a:r>
            <a:endParaRPr lang="en-FI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93666-0DB5-4CC9-6A4A-38BE6B57E8C7}"/>
              </a:ext>
            </a:extLst>
          </p:cNvPr>
          <p:cNvSpPr txBox="1"/>
          <p:nvPr/>
        </p:nvSpPr>
        <p:spPr>
          <a:xfrm>
            <a:off x="291667" y="6395038"/>
            <a:ext cx="4594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>
                <a:solidFill>
                  <a:schemeClr val="bg1"/>
                </a:solidFill>
              </a:rPr>
              <a:t>https://www.amalgamsab.com/iiii-or-is-it-iv.html</a:t>
            </a:r>
          </a:p>
        </p:txBody>
      </p:sp>
    </p:spTree>
    <p:extLst>
      <p:ext uri="{BB962C8B-B14F-4D97-AF65-F5344CB8AC3E}">
        <p14:creationId xmlns:p14="http://schemas.microsoft.com/office/powerpoint/2010/main" val="70656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94FF7B-CCAD-6EB7-ABD2-56EEC158D37F}"/>
              </a:ext>
            </a:extLst>
          </p:cNvPr>
          <p:cNvSpPr txBox="1"/>
          <p:nvPr/>
        </p:nvSpPr>
        <p:spPr>
          <a:xfrm>
            <a:off x="1533212" y="1802947"/>
            <a:ext cx="9125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5400" b="1" dirty="0"/>
              <a:t>Note: </a:t>
            </a:r>
          </a:p>
          <a:p>
            <a:r>
              <a:rPr lang="en-FI" sz="5400" dirty="0"/>
              <a:t>…business rules. You think you know them and yet you don’t.</a:t>
            </a:r>
          </a:p>
        </p:txBody>
      </p:sp>
    </p:spTree>
    <p:extLst>
      <p:ext uri="{BB962C8B-B14F-4D97-AF65-F5344CB8AC3E}">
        <p14:creationId xmlns:p14="http://schemas.microsoft.com/office/powerpoint/2010/main" val="3087565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73E22-D6F5-55A3-E1D9-3A0536CCCFC7}"/>
              </a:ext>
            </a:extLst>
          </p:cNvPr>
          <p:cNvSpPr txBox="1"/>
          <p:nvPr/>
        </p:nvSpPr>
        <p:spPr>
          <a:xfrm>
            <a:off x="1469985" y="1710176"/>
            <a:ext cx="104519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chemeClr val="accent1"/>
                </a:solidFill>
              </a:rPr>
              <a:t>Part 1</a:t>
            </a:r>
            <a:r>
              <a:rPr lang="en-GB" sz="4000" dirty="0">
                <a:solidFill>
                  <a:srgbClr val="1F2328"/>
                </a:solidFill>
              </a:rPr>
              <a:t>. 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Be the resident expert. Ask around.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Rules. More rules.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Find better experts.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Disagreeing with boundaries. 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IIIII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. Oracles.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</a:t>
            </a:r>
            <a:r>
              <a:rPr lang="en-GB" sz="4000" dirty="0">
                <a:solidFill>
                  <a:schemeClr val="accent1"/>
                </a:solidFill>
              </a:rPr>
              <a:t>VI</a:t>
            </a:r>
            <a:r>
              <a:rPr lang="en-GB" sz="4000" dirty="0">
                <a:solidFill>
                  <a:srgbClr val="1F2328"/>
                </a:solidFill>
              </a:rPr>
              <a:t>. Find better oracles.</a:t>
            </a:r>
          </a:p>
          <a:p>
            <a:pPr algn="l"/>
            <a:r>
              <a:rPr lang="en-GB" sz="4000" b="0" i="0" u="none" strike="noStrike" dirty="0">
                <a:solidFill>
                  <a:schemeClr val="accent1"/>
                </a:solidFill>
                <a:effectLst/>
              </a:rPr>
              <a:t>Part VII</a:t>
            </a:r>
            <a:r>
              <a:rPr lang="en-GB" sz="4000" dirty="0">
                <a:solidFill>
                  <a:srgbClr val="1F2328"/>
                </a:solidFill>
              </a:rPr>
              <a:t>. No user would do what users would do.</a:t>
            </a:r>
            <a:endParaRPr lang="en-GB" sz="4000" b="0" i="0" u="none" strike="noStrike" dirty="0">
              <a:solidFill>
                <a:srgbClr val="1F2328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0C10E-01FA-E7B5-B123-498D57E2EF65}"/>
              </a:ext>
            </a:extLst>
          </p:cNvPr>
          <p:cNvSpPr txBox="1"/>
          <p:nvPr/>
        </p:nvSpPr>
        <p:spPr>
          <a:xfrm>
            <a:off x="596096" y="786846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0" i="0" u="none" strike="noStrike" dirty="0">
                <a:solidFill>
                  <a:srgbClr val="1F2328"/>
                </a:solidFill>
                <a:effectLst/>
                <a:latin typeface="KG No Matter What" panose="02000507000000020003" pitchFamily="2" charset="77"/>
              </a:rPr>
              <a:t>Domain</a:t>
            </a:r>
            <a:endParaRPr lang="en-FI" sz="5400" dirty="0">
              <a:latin typeface="KG No Matter What" panose="0200050700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9500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73E22-D6F5-55A3-E1D9-3A0536CCCFC7}"/>
              </a:ext>
            </a:extLst>
          </p:cNvPr>
          <p:cNvSpPr txBox="1"/>
          <p:nvPr/>
        </p:nvSpPr>
        <p:spPr>
          <a:xfrm>
            <a:off x="1469985" y="1710176"/>
            <a:ext cx="107220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chemeClr val="accent1"/>
                </a:solidFill>
              </a:rPr>
              <a:t>Part 1</a:t>
            </a:r>
            <a:r>
              <a:rPr lang="en-GB" sz="4000" dirty="0">
                <a:solidFill>
                  <a:srgbClr val="1F2328"/>
                </a:solidFill>
              </a:rPr>
              <a:t>. </a:t>
            </a:r>
            <a:r>
              <a:rPr lang="en-GB" sz="4000" b="0" i="0" u="none" strike="noStrike" dirty="0">
                <a:solidFill>
                  <a:srgbClr val="1F2328"/>
                </a:solidFill>
                <a:effectLst/>
              </a:rPr>
              <a:t>Dependencies.</a:t>
            </a:r>
          </a:p>
          <a:p>
            <a:pPr algn="l"/>
            <a:r>
              <a:rPr lang="en-GB" sz="4000" dirty="0">
                <a:solidFill>
                  <a:schemeClr val="accent1"/>
                </a:solidFill>
              </a:rPr>
              <a:t>Part II</a:t>
            </a:r>
            <a:r>
              <a:rPr lang="en-GB" sz="4000" dirty="0">
                <a:solidFill>
                  <a:srgbClr val="1F2328"/>
                </a:solidFill>
              </a:rPr>
              <a:t>. Interruptions. Both software and hardware.</a:t>
            </a:r>
          </a:p>
          <a:p>
            <a:pPr algn="l"/>
            <a:r>
              <a:rPr lang="en-GB" sz="4000" dirty="0">
                <a:solidFill>
                  <a:schemeClr val="accent1"/>
                </a:solidFill>
              </a:rPr>
              <a:t>Part III</a:t>
            </a:r>
            <a:r>
              <a:rPr lang="en-GB" sz="4000" dirty="0">
                <a:solidFill>
                  <a:srgbClr val="1F2328"/>
                </a:solidFill>
              </a:rPr>
              <a:t>. People.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0C10E-01FA-E7B5-B123-498D57E2EF65}"/>
              </a:ext>
            </a:extLst>
          </p:cNvPr>
          <p:cNvSpPr txBox="1"/>
          <p:nvPr/>
        </p:nvSpPr>
        <p:spPr>
          <a:xfrm>
            <a:off x="596096" y="786846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0" i="0" u="none" strike="noStrike" dirty="0">
                <a:solidFill>
                  <a:srgbClr val="1F2328"/>
                </a:solidFill>
                <a:effectLst/>
                <a:latin typeface="KG No Matter What" panose="02000507000000020003" pitchFamily="2" charset="77"/>
              </a:rPr>
              <a:t>Environment</a:t>
            </a:r>
            <a:endParaRPr lang="en-FI" sz="5400" dirty="0">
              <a:latin typeface="KG No Matter What" panose="02000507000000020003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16ED93-9628-E216-7274-48D08DB8856F}"/>
              </a:ext>
            </a:extLst>
          </p:cNvPr>
          <p:cNvSpPr txBox="1"/>
          <p:nvPr/>
        </p:nvSpPr>
        <p:spPr>
          <a:xfrm>
            <a:off x="1469985" y="3936949"/>
            <a:ext cx="101625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3200" dirty="0">
                <a:solidFill>
                  <a:schemeClr val="accent6"/>
                </a:solidFill>
              </a:rPr>
              <a:t>“People are not pure functions; they have all sorts of interesting side effects.” - Engineering Management for the Rest of Us, Sarah Drasner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6F26D-066B-C220-7B70-454A5EF8FAFC}"/>
              </a:ext>
            </a:extLst>
          </p:cNvPr>
          <p:cNvSpPr txBox="1"/>
          <p:nvPr/>
        </p:nvSpPr>
        <p:spPr>
          <a:xfrm>
            <a:off x="2870522" y="5506609"/>
            <a:ext cx="8918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accent2"/>
                </a:solidFill>
              </a:rPr>
              <a:t>… nor are pure functions if you grow the boundary of what might fail.</a:t>
            </a:r>
          </a:p>
        </p:txBody>
      </p:sp>
    </p:spTree>
    <p:extLst>
      <p:ext uri="{BB962C8B-B14F-4D97-AF65-F5344CB8AC3E}">
        <p14:creationId xmlns:p14="http://schemas.microsoft.com/office/powerpoint/2010/main" val="3513074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E7578-2DC2-D048-FBAB-3452FAAA1801}"/>
              </a:ext>
            </a:extLst>
          </p:cNvPr>
          <p:cNvSpPr txBox="1"/>
          <p:nvPr/>
        </p:nvSpPr>
        <p:spPr>
          <a:xfrm>
            <a:off x="211437" y="1997839"/>
            <a:ext cx="45095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sz="7200" dirty="0"/>
              <a:t>WE are </a:t>
            </a:r>
          </a:p>
          <a:p>
            <a:pPr algn="ctr"/>
            <a:r>
              <a:rPr lang="en-FI" sz="72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accountable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64614-7EF2-3B89-7DDA-BF229B9EFF90}"/>
              </a:ext>
            </a:extLst>
          </p:cNvPr>
          <p:cNvSpPr txBox="1"/>
          <p:nvPr/>
        </p:nvSpPr>
        <p:spPr>
          <a:xfrm>
            <a:off x="5213131" y="1536174"/>
            <a:ext cx="672055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400" dirty="0"/>
              <a:t>1. Intent / Implementation</a:t>
            </a:r>
          </a:p>
          <a:p>
            <a:r>
              <a:rPr lang="en-FI" sz="4400" dirty="0"/>
              <a:t>2. Domain for the Layman</a:t>
            </a:r>
          </a:p>
          <a:p>
            <a:r>
              <a:rPr lang="en-FI" sz="4400" dirty="0"/>
              <a:t>3. Domain for the Expert</a:t>
            </a:r>
          </a:p>
          <a:p>
            <a:r>
              <a:rPr lang="en-FI" sz="4400" dirty="0"/>
              <a:t>4. Reference Implementation</a:t>
            </a:r>
          </a:p>
          <a:p>
            <a:r>
              <a:rPr lang="en-FI" sz="4400" dirty="0"/>
              <a:t>5. People Filtering</a:t>
            </a:r>
            <a:br>
              <a:rPr lang="en-FI" sz="4400" dirty="0"/>
            </a:br>
            <a:r>
              <a:rPr lang="en-FI" sz="4400" dirty="0">
                <a:solidFill>
                  <a:schemeClr val="accent1"/>
                </a:solidFill>
              </a:rPr>
              <a:t>6. Interesting side effects</a:t>
            </a:r>
          </a:p>
        </p:txBody>
      </p:sp>
    </p:spTree>
    <p:extLst>
      <p:ext uri="{BB962C8B-B14F-4D97-AF65-F5344CB8AC3E}">
        <p14:creationId xmlns:p14="http://schemas.microsoft.com/office/powerpoint/2010/main" val="563476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E320-43AA-4966-802B-E3100757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Answer Key to Some of the Bugs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6FF9-547C-E8EA-709A-FDE15B2DF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158065"/>
          </a:xfrm>
        </p:spPr>
        <p:txBody>
          <a:bodyPr>
            <a:normAutofit fontScale="77500" lnSpcReduction="20000"/>
          </a:bodyPr>
          <a:lstStyle/>
          <a:p>
            <a:r>
              <a:rPr lang="en-FI" dirty="0"/>
              <a:t>Values over 4k don’t work (without extending to line-on-top notation)</a:t>
            </a:r>
          </a:p>
          <a:p>
            <a:pPr lvl="1"/>
            <a:r>
              <a:rPr lang="en-FI" dirty="0"/>
              <a:t>Zeros, fractions, large numbers later in scope</a:t>
            </a:r>
          </a:p>
          <a:p>
            <a:r>
              <a:rPr lang="en-FI" dirty="0"/>
              <a:t>Decimal values truncated vs. rounded </a:t>
            </a:r>
          </a:p>
          <a:p>
            <a:r>
              <a:rPr lang="en-FI" dirty="0"/>
              <a:t>*some of the implementations*</a:t>
            </a:r>
          </a:p>
          <a:p>
            <a:pPr lvl="1"/>
            <a:r>
              <a:rPr lang="en-FI" dirty="0"/>
              <a:t>Boundary values miscalculated</a:t>
            </a:r>
          </a:p>
          <a:p>
            <a:pPr lvl="1"/>
            <a:r>
              <a:rPr lang="en-FI" dirty="0"/>
              <a:t>Infinite loop</a:t>
            </a:r>
          </a:p>
          <a:p>
            <a:r>
              <a:rPr lang="en-FI" dirty="0"/>
              <a:t>Implementing Classic when expecting Simplified</a:t>
            </a:r>
          </a:p>
          <a:p>
            <a:r>
              <a:rPr lang="en-FI" dirty="0"/>
              <a:t>Someone’s code without license text! </a:t>
            </a:r>
          </a:p>
          <a:p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060D1-ED04-7F52-F570-8CDA4CF82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4758267"/>
            <a:ext cx="7772400" cy="109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46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1A1B4-D727-2845-27FD-D09A13532D77}"/>
              </a:ext>
            </a:extLst>
          </p:cNvPr>
          <p:cNvSpPr txBox="1"/>
          <p:nvPr/>
        </p:nvSpPr>
        <p:spPr>
          <a:xfrm>
            <a:off x="693684" y="1327859"/>
            <a:ext cx="1101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0" i="0" u="none" strike="noStrike" dirty="0">
                <a:solidFill>
                  <a:schemeClr val="accent1"/>
                </a:solidFill>
                <a:effectLst/>
                <a:latin typeface="KG No Matter What" panose="02000507000000020003" pitchFamily="2" charset="77"/>
              </a:rPr>
              <a:t>Foo</a:t>
            </a:r>
            <a:endParaRPr lang="en-FI" sz="8000" dirty="0">
              <a:solidFill>
                <a:schemeClr val="accent1"/>
              </a:solidFill>
              <a:latin typeface="KG No Matter What" panose="02000507000000020003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BACD2-9263-42CE-9598-22F38DB9E59F}"/>
              </a:ext>
            </a:extLst>
          </p:cNvPr>
          <p:cNvSpPr txBox="1"/>
          <p:nvPr/>
        </p:nvSpPr>
        <p:spPr>
          <a:xfrm>
            <a:off x="2508571" y="3224463"/>
            <a:ext cx="738022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sz="7200" dirty="0">
                <a:solidFill>
                  <a:schemeClr val="accent2"/>
                </a:solidFill>
              </a:rPr>
              <a:t>Contemporary</a:t>
            </a:r>
            <a:r>
              <a:rPr lang="en-FI" sz="7200" dirty="0"/>
              <a:t> </a:t>
            </a:r>
            <a:br>
              <a:rPr lang="en-FI" sz="7200" dirty="0"/>
            </a:br>
            <a:r>
              <a:rPr lang="en-FI" sz="7200" dirty="0"/>
              <a:t>Exploratory Testing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5E3D257-F20A-C794-EC4E-F1B613D151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6" r="14274" b="11601"/>
          <a:stretch/>
        </p:blipFill>
        <p:spPr>
          <a:xfrm>
            <a:off x="8361747" y="289023"/>
            <a:ext cx="3591640" cy="2935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068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4ECEC-A6B4-E7EC-63FF-086F14552A23}"/>
              </a:ext>
            </a:extLst>
          </p:cNvPr>
          <p:cNvSpPr txBox="1"/>
          <p:nvPr/>
        </p:nvSpPr>
        <p:spPr>
          <a:xfrm>
            <a:off x="882870" y="629429"/>
            <a:ext cx="105035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7200" dirty="0"/>
              <a:t>A majority of the production failures (</a:t>
            </a:r>
            <a:r>
              <a:rPr lang="en-FI" sz="7200" dirty="0">
                <a:solidFill>
                  <a:schemeClr val="accent6"/>
                </a:solidFill>
              </a:rPr>
              <a:t>77%</a:t>
            </a:r>
            <a:r>
              <a:rPr lang="en-FI" sz="7200" dirty="0"/>
              <a:t>) can be reproduced by a unit test.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DC9F5-F253-81C6-F4A0-4E07D00D4BE0}"/>
              </a:ext>
            </a:extLst>
          </p:cNvPr>
          <p:cNvSpPr txBox="1"/>
          <p:nvPr/>
        </p:nvSpPr>
        <p:spPr>
          <a:xfrm>
            <a:off x="4090604" y="5153744"/>
            <a:ext cx="729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bg1">
                    <a:lumMod val="75000"/>
                  </a:schemeClr>
                </a:solidFill>
              </a:rPr>
              <a:t>https://www.usenix.org/system/files/conference/osdi14/osdi14-paper-yuan.pdf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8468B-1A76-03EA-9387-09256169E03F}"/>
              </a:ext>
            </a:extLst>
          </p:cNvPr>
          <p:cNvSpPr txBox="1"/>
          <p:nvPr/>
        </p:nvSpPr>
        <p:spPr>
          <a:xfrm>
            <a:off x="4698124" y="5454132"/>
            <a:ext cx="7378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T</a:t>
            </a:r>
            <a:r>
              <a:rPr lang="en-FI" dirty="0">
                <a:solidFill>
                  <a:schemeClr val="bg1">
                    <a:lumMod val="75000"/>
                  </a:schemeClr>
                </a:solidFill>
              </a:rPr>
              <a:t>hrough https://www.slideshare.net/Kevlin/the-error-of-our-ways</a:t>
            </a:r>
          </a:p>
        </p:txBody>
      </p:sp>
    </p:spTree>
    <p:extLst>
      <p:ext uri="{BB962C8B-B14F-4D97-AF65-F5344CB8AC3E}">
        <p14:creationId xmlns:p14="http://schemas.microsoft.com/office/powerpoint/2010/main" val="3980662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DD36D-B91B-1B85-A2E8-3D9188C15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74" y="-11576"/>
            <a:ext cx="7080298" cy="6869575"/>
          </a:xfrm>
          <a:prstGeom prst="rect">
            <a:avLst/>
          </a:prstGeom>
        </p:spPr>
      </p:pic>
      <p:pic>
        <p:nvPicPr>
          <p:cNvPr id="4" name="Picture 3" descr="Diagram&#10;&#10;Description automatically generated with low confidence">
            <a:extLst>
              <a:ext uri="{FF2B5EF4-FFF2-40B4-BE49-F238E27FC236}">
                <a16:creationId xmlns:a16="http://schemas.microsoft.com/office/drawing/2014/main" id="{96106B2A-886F-08B1-45E4-6A318325D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391" y="-11575"/>
            <a:ext cx="4118609" cy="6216771"/>
          </a:xfrm>
          <a:prstGeom prst="rect">
            <a:avLst/>
          </a:prstGeom>
          <a:noFill/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E1CD8A4-6C3C-611D-F47F-92DC041CB3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798" y="3553428"/>
            <a:ext cx="3466364" cy="26517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8989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302E0-161D-7CCE-F2FC-0D1B095CCE0F}"/>
              </a:ext>
            </a:extLst>
          </p:cNvPr>
          <p:cNvSpPr txBox="1"/>
          <p:nvPr/>
        </p:nvSpPr>
        <p:spPr>
          <a:xfrm>
            <a:off x="693684" y="1327859"/>
            <a:ext cx="11010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Everything that does not need to be automated </a:t>
            </a:r>
            <a:r>
              <a:rPr lang="en-GB" sz="8000" b="0" i="0" u="none" strike="noStrike" dirty="0">
                <a:solidFill>
                  <a:schemeClr val="accent4"/>
                </a:solidFill>
                <a:effectLst/>
                <a:latin typeface="KG No Matter What" panose="02000507000000020003" pitchFamily="2" charset="77"/>
              </a:rPr>
              <a:t>gets done while automating</a:t>
            </a:r>
            <a:r>
              <a:rPr lang="en-GB" sz="80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.</a:t>
            </a:r>
            <a:endParaRPr lang="en-FI" sz="8000" dirty="0">
              <a:latin typeface="KG No Matter What" panose="02000507000000020003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556BC-18D2-D47C-1D6C-930CE53D070F}"/>
              </a:ext>
            </a:extLst>
          </p:cNvPr>
          <p:cNvSpPr txBox="1"/>
          <p:nvPr/>
        </p:nvSpPr>
        <p:spPr>
          <a:xfrm>
            <a:off x="4110942" y="5299308"/>
            <a:ext cx="7319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* </a:t>
            </a:r>
            <a:r>
              <a:rPr lang="en-GB" sz="2400" dirty="0"/>
              <a:t>P</a:t>
            </a:r>
            <a:r>
              <a:rPr lang="en-FI" sz="2400" dirty="0"/>
              <a:t>rogramming with thinking – quality of thinking matters</a:t>
            </a:r>
          </a:p>
        </p:txBody>
      </p:sp>
    </p:spTree>
    <p:extLst>
      <p:ext uri="{BB962C8B-B14F-4D97-AF65-F5344CB8AC3E}">
        <p14:creationId xmlns:p14="http://schemas.microsoft.com/office/powerpoint/2010/main" val="2058527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8C1416-588A-404A-8A07-ED707E5FBC8B}"/>
              </a:ext>
            </a:extLst>
          </p:cNvPr>
          <p:cNvSpPr txBox="1"/>
          <p:nvPr/>
        </p:nvSpPr>
        <p:spPr>
          <a:xfrm>
            <a:off x="1565565" y="2429932"/>
            <a:ext cx="97813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Find (some of) what others may have </a:t>
            </a:r>
            <a:r>
              <a:rPr lang="en-US" sz="7200" dirty="0">
                <a:solidFill>
                  <a:schemeClr val="accent6"/>
                </a:solidFill>
              </a:rPr>
              <a:t>missed</a:t>
            </a:r>
            <a:r>
              <a:rPr lang="en-US" sz="7200" dirty="0"/>
              <a:t>!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3BEF4-A98D-4648-BA28-6ADF84173DC1}"/>
              </a:ext>
            </a:extLst>
          </p:cNvPr>
          <p:cNvSpPr txBox="1"/>
          <p:nvPr/>
        </p:nvSpPr>
        <p:spPr>
          <a:xfrm>
            <a:off x="900546" y="87520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accent2"/>
                </a:solidFill>
                <a:latin typeface="KG No Matter What" panose="02000507000000020003" pitchFamily="2" charset="0"/>
              </a:rPr>
              <a:t>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94E72-C96A-4675-AAB4-C52D2CBA445B}"/>
              </a:ext>
            </a:extLst>
          </p:cNvPr>
          <p:cNvSpPr txBox="1"/>
          <p:nvPr/>
        </p:nvSpPr>
        <p:spPr>
          <a:xfrm>
            <a:off x="7661564" y="4987638"/>
            <a:ext cx="3136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… and never be bored.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429D8-3A27-40B9-AAC5-6EA1F70D5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261" y="204953"/>
            <a:ext cx="2396836" cy="240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24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791E8-F71C-4351-F975-85D8F57513F0}"/>
              </a:ext>
            </a:extLst>
          </p:cNvPr>
          <p:cNvSpPr txBox="1"/>
          <p:nvPr/>
        </p:nvSpPr>
        <p:spPr>
          <a:xfrm>
            <a:off x="3568390" y="2023948"/>
            <a:ext cx="6559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800" dirty="0"/>
              <a:t>For pair / ensemble testing this with me </a:t>
            </a:r>
            <a:r>
              <a:rPr lang="en-FI" sz="2800" dirty="0">
                <a:solidFill>
                  <a:schemeClr val="accent1"/>
                </a:solidFill>
              </a:rPr>
              <a:t>&lt;3</a:t>
            </a:r>
            <a:r>
              <a:rPr lang="en-FI" sz="28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DBF4D-B59F-2787-EFD1-2A827180CDD0}"/>
              </a:ext>
            </a:extLst>
          </p:cNvPr>
          <p:cNvSpPr txBox="1"/>
          <p:nvPr/>
        </p:nvSpPr>
        <p:spPr>
          <a:xfrm>
            <a:off x="1650379" y="947854"/>
            <a:ext cx="36551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6000" dirty="0">
                <a:solidFill>
                  <a:schemeClr val="accent2"/>
                </a:solidFill>
                <a:latin typeface="KG No Matter What" panose="02000507000000020003" pitchFamily="2" charset="77"/>
              </a:rPr>
              <a:t>Thank</a:t>
            </a:r>
            <a:r>
              <a:rPr lang="en-FI" sz="6000" dirty="0">
                <a:latin typeface="KG No Matter What" panose="02000507000000020003" pitchFamily="2" charset="77"/>
              </a:rPr>
              <a:t> </a:t>
            </a:r>
            <a:r>
              <a:rPr lang="en-FI" sz="6000" dirty="0">
                <a:solidFill>
                  <a:schemeClr val="accent1"/>
                </a:solidFill>
                <a:latin typeface="KG No Matter What" panose="02000507000000020003" pitchFamily="2" charset="77"/>
              </a:rPr>
              <a:t>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9F82-59B3-611C-EC01-10657CED59D9}"/>
              </a:ext>
            </a:extLst>
          </p:cNvPr>
          <p:cNvSpPr txBox="1"/>
          <p:nvPr/>
        </p:nvSpPr>
        <p:spPr>
          <a:xfrm>
            <a:off x="2116152" y="3429000"/>
            <a:ext cx="84170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4400" dirty="0"/>
              <a:t>Alex, Elisabeth, Bertold, Thomas, Mirja, Karen, Moroni, Isidro, Benjamin &amp; Testing Dozen #1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5061F-A4E4-F3D3-02F7-B73700FD58B2}"/>
              </a:ext>
            </a:extLst>
          </p:cNvPr>
          <p:cNvSpPr txBox="1"/>
          <p:nvPr/>
        </p:nvSpPr>
        <p:spPr>
          <a:xfrm>
            <a:off x="2450559" y="5540814"/>
            <a:ext cx="8794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>
                <a:solidFill>
                  <a:schemeClr val="accent6"/>
                </a:solidFill>
              </a:rPr>
              <a:t>https://github.com/exploratory-testing-academy/do-a-thing-and-call-it-foo-solution</a:t>
            </a:r>
          </a:p>
        </p:txBody>
      </p:sp>
    </p:spTree>
    <p:extLst>
      <p:ext uri="{BB962C8B-B14F-4D97-AF65-F5344CB8AC3E}">
        <p14:creationId xmlns:p14="http://schemas.microsoft.com/office/powerpoint/2010/main" val="5507619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Logo, company name&#10;&#10;Description automatically generated">
            <a:extLst>
              <a:ext uri="{FF2B5EF4-FFF2-40B4-BE49-F238E27FC236}">
                <a16:creationId xmlns:a16="http://schemas.microsoft.com/office/drawing/2014/main" id="{854A0A4B-2E30-48B7-9742-60083A5B38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5"/>
          <a:stretch/>
        </p:blipFill>
        <p:spPr>
          <a:xfrm>
            <a:off x="2919409" y="2198639"/>
            <a:ext cx="2114550" cy="18412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1F1B449-2966-44CC-8220-B3564B2FA22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3960" y="2319660"/>
            <a:ext cx="1543445" cy="6629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6502B3-4FFD-461F-A833-8217BB9ED1EA}"/>
              </a:ext>
            </a:extLst>
          </p:cNvPr>
          <p:cNvSpPr txBox="1"/>
          <p:nvPr/>
        </p:nvSpPr>
        <p:spPr>
          <a:xfrm>
            <a:off x="3570919" y="3794128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CFDD0-2947-4C5C-AA84-6FDABC423187}"/>
              </a:ext>
            </a:extLst>
          </p:cNvPr>
          <p:cNvSpPr txBox="1"/>
          <p:nvPr/>
        </p:nvSpPr>
        <p:spPr>
          <a:xfrm>
            <a:off x="5687805" y="3779599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64645-B8ED-431F-A0F2-17DBFA31C515}"/>
              </a:ext>
            </a:extLst>
          </p:cNvPr>
          <p:cNvSpPr txBox="1"/>
          <p:nvPr/>
        </p:nvSpPr>
        <p:spPr>
          <a:xfrm>
            <a:off x="4794126" y="2966502"/>
            <a:ext cx="2685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MIATPP</a:t>
            </a:r>
            <a:r>
              <a:rPr lang="en-US" dirty="0">
                <a:latin typeface="Gill Sans MT" panose="020B0502020104020203" pitchFamily="34" charset="0"/>
              </a:rPr>
              <a:t> </a:t>
            </a:r>
            <a:br>
              <a:rPr lang="en-US" dirty="0">
                <a:latin typeface="Gill Sans MT" panose="020B0502020104020203" pitchFamily="34" charset="0"/>
              </a:rPr>
            </a:br>
            <a:r>
              <a:rPr lang="en-US" sz="1350" dirty="0">
                <a:latin typeface="Gill Sans Nova Light" panose="020B0604020202020204" pitchFamily="34" charset="0"/>
              </a:rPr>
              <a:t>Most Influential Agile Testing Professional Person</a:t>
            </a:r>
            <a:endParaRPr lang="en-US" dirty="0">
              <a:latin typeface="Gill Sans Nova Light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680E0-9A77-4140-916C-51A66B525CBE}"/>
              </a:ext>
            </a:extLst>
          </p:cNvPr>
          <p:cNvSpPr txBox="1"/>
          <p:nvPr/>
        </p:nvSpPr>
        <p:spPr>
          <a:xfrm>
            <a:off x="5202904" y="4729812"/>
            <a:ext cx="4182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0"/>
              </a:rPr>
              <a:t>#PayToSpeak #TechVoices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#EnsembleTesting #EnsembleProgramming #StrongStylePairing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#ExploratoryTesting #TestAutomation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#ModernAgile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#AwesomeTesters</a:t>
            </a:r>
          </a:p>
        </p:txBody>
      </p:sp>
      <p:pic>
        <p:nvPicPr>
          <p:cNvPr id="21" name="Picture 20" descr="A close up of a person&#10;&#10;Description automatically generated">
            <a:extLst>
              <a:ext uri="{FF2B5EF4-FFF2-40B4-BE49-F238E27FC236}">
                <a16:creationId xmlns:a16="http://schemas.microsoft.com/office/drawing/2014/main" id="{2C439EBB-35AD-4B75-AC4F-AA29F499ED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57" r="30917" b="-557"/>
          <a:stretch/>
        </p:blipFill>
        <p:spPr>
          <a:xfrm>
            <a:off x="395662" y="1219514"/>
            <a:ext cx="2438600" cy="24195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1E0E0D-67BB-4528-B6CB-6F1F9682DC8B}"/>
              </a:ext>
            </a:extLst>
          </p:cNvPr>
          <p:cNvSpPr/>
          <p:nvPr/>
        </p:nvSpPr>
        <p:spPr>
          <a:xfrm>
            <a:off x="144956" y="268448"/>
            <a:ext cx="60901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Maaret Pyhäjärvi</a:t>
            </a:r>
            <a:r>
              <a:rPr lang="en-US" sz="4400" dirty="0">
                <a:solidFill>
                  <a:schemeClr val="accent2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 </a:t>
            </a:r>
            <a:r>
              <a:rPr lang="en-US" dirty="0">
                <a:solidFill>
                  <a:schemeClr val="accent4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(from Finland)</a:t>
            </a:r>
            <a:endParaRPr lang="en-US" sz="4400" dirty="0">
              <a:solidFill>
                <a:schemeClr val="accent4"/>
              </a:solidFill>
              <a:latin typeface="KG No Matter What" panose="02000507000000020003" pitchFamily="2" charset="0"/>
              <a:ea typeface="KG Manhattan Script" charset="0"/>
              <a:cs typeface="KG Manhattan Script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B441B-3FE2-45AE-91C8-0C2493091641}"/>
              </a:ext>
            </a:extLst>
          </p:cNvPr>
          <p:cNvSpPr/>
          <p:nvPr/>
        </p:nvSpPr>
        <p:spPr>
          <a:xfrm>
            <a:off x="731333" y="4148931"/>
            <a:ext cx="40589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Email: maaret@iki.fi</a:t>
            </a:r>
          </a:p>
          <a:p>
            <a:r>
              <a:rPr lang="en-US" sz="2000" dirty="0"/>
              <a:t>Twitter: @maaretp</a:t>
            </a:r>
            <a:br>
              <a:rPr lang="en-US" sz="2000" dirty="0"/>
            </a:br>
            <a:r>
              <a:rPr lang="en-US" sz="2000" dirty="0"/>
              <a:t>Web: maaretp.com</a:t>
            </a:r>
          </a:p>
          <a:p>
            <a:r>
              <a:rPr lang="en-US" sz="2000" dirty="0"/>
              <a:t>Blog: visible-quality.blogspot.fi</a:t>
            </a:r>
          </a:p>
          <a:p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(please connect with me through </a:t>
            </a:r>
            <a:b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Twitter or LinkedIn)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D120F171-EB66-4D15-89A4-1331C18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41" y="1437260"/>
            <a:ext cx="1275852" cy="127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CT 100 influencers list 2019 and 2020">
            <a:extLst>
              <a:ext uri="{FF2B5EF4-FFF2-40B4-BE49-F238E27FC236}">
                <a16:creationId xmlns:a16="http://schemas.microsoft.com/office/drawing/2014/main" id="{683E1077-B573-4074-8719-F8C2A0A18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70"/>
          <a:stretch/>
        </p:blipFill>
        <p:spPr bwMode="auto">
          <a:xfrm>
            <a:off x="7396849" y="2443840"/>
            <a:ext cx="1553783" cy="85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BA6622-FF20-431C-8CB2-00646C3452B4}"/>
              </a:ext>
            </a:extLst>
          </p:cNvPr>
          <p:cNvSpPr txBox="1"/>
          <p:nvPr/>
        </p:nvSpPr>
        <p:spPr>
          <a:xfrm>
            <a:off x="7195322" y="3794128"/>
            <a:ext cx="207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2019 - 2022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9128D1-CDD5-4252-8C81-0DE3E04CABC8}"/>
              </a:ext>
            </a:extLst>
          </p:cNvPr>
          <p:cNvSpPr txBox="1"/>
          <p:nvPr/>
        </p:nvSpPr>
        <p:spPr>
          <a:xfrm>
            <a:off x="9770076" y="2664766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https://exploratorytestingacademy.com</a:t>
            </a:r>
          </a:p>
        </p:txBody>
      </p:sp>
      <p:pic>
        <p:nvPicPr>
          <p:cNvPr id="1028" name="Picture 4" descr="Software Testing Finland ry, non-profit">
            <a:extLst>
              <a:ext uri="{FF2B5EF4-FFF2-40B4-BE49-F238E27FC236}">
                <a16:creationId xmlns:a16="http://schemas.microsoft.com/office/drawing/2014/main" id="{ACDB99F5-F874-46A1-8E9D-B11F2846A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586" y="2898917"/>
            <a:ext cx="1278372" cy="127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53035E2-2B1D-4904-96E6-48FD25501EB8}"/>
              </a:ext>
            </a:extLst>
          </p:cNvPr>
          <p:cNvSpPr txBox="1"/>
          <p:nvPr/>
        </p:nvSpPr>
        <p:spPr>
          <a:xfrm>
            <a:off x="9739815" y="4156865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Ohjelmistotestaus </a:t>
            </a:r>
            <a:r>
              <a:rPr lang="en-US" sz="1100" dirty="0" err="1">
                <a:latin typeface="Gill Sans MT" panose="020B0502020104020203" pitchFamily="34" charset="0"/>
              </a:rPr>
              <a:t>ry</a:t>
            </a:r>
            <a:endParaRPr lang="en-US" sz="1100" dirty="0">
              <a:latin typeface="Gill Sans MT" panose="020B0502020104020203" pitchFamily="34" charset="0"/>
            </a:endParaRPr>
          </a:p>
        </p:txBody>
      </p:sp>
      <p:pic>
        <p:nvPicPr>
          <p:cNvPr id="24" name="Picture 6" descr="Techvoices - diversity in conference speaking">
            <a:extLst>
              <a:ext uri="{FF2B5EF4-FFF2-40B4-BE49-F238E27FC236}">
                <a16:creationId xmlns:a16="http://schemas.microsoft.com/office/drawing/2014/main" id="{F7933A53-A678-4906-BDE6-28F46578E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4"/>
          <a:stretch/>
        </p:blipFill>
        <p:spPr bwMode="auto">
          <a:xfrm>
            <a:off x="10336062" y="4440766"/>
            <a:ext cx="1414896" cy="112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2ADD894-780A-47B1-B9BE-52BD8B3C3632}"/>
              </a:ext>
            </a:extLst>
          </p:cNvPr>
          <p:cNvSpPr txBox="1"/>
          <p:nvPr/>
        </p:nvSpPr>
        <p:spPr>
          <a:xfrm>
            <a:off x="9797772" y="5579545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https</a:t>
            </a:r>
            <a:r>
              <a:rPr lang="en-US" sz="1100" dirty="0">
                <a:latin typeface="Gill Sans MT" panose="020B0502020104020203" pitchFamily="34" charset="0"/>
                <a:sym typeface="Wingdings" panose="05000000000000000000" pitchFamily="2" charset="2"/>
              </a:rPr>
              <a:t>://techvoices.org</a:t>
            </a:r>
            <a:endParaRPr lang="en-US" sz="11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984428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Pantone 202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E466D"/>
      </a:accent1>
      <a:accent2>
        <a:srgbClr val="BB2648"/>
      </a:accent2>
      <a:accent3>
        <a:srgbClr val="DDC4A7"/>
      </a:accent3>
      <a:accent4>
        <a:srgbClr val="393939"/>
      </a:accent4>
      <a:accent5>
        <a:srgbClr val="D4D4D4"/>
      </a:accent5>
      <a:accent6>
        <a:srgbClr val="194C94"/>
      </a:accent6>
      <a:hlink>
        <a:srgbClr val="FE6A80"/>
      </a:hlink>
      <a:folHlink>
        <a:srgbClr val="85A1AC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4FFFB81B68097479F625752AD22F278" ma:contentTypeVersion="12" ma:contentTypeDescription="Luo uusi asiakirja." ma:contentTypeScope="" ma:versionID="345e189057f810c6d491803cbb6923d0">
  <xsd:schema xmlns:xsd="http://www.w3.org/2001/XMLSchema" xmlns:xs="http://www.w3.org/2001/XMLSchema" xmlns:p="http://schemas.microsoft.com/office/2006/metadata/properties" xmlns:ns3="a11aa9f6-e4af-4104-bf81-0f6d6144281c" xmlns:ns4="bea9ce00-4873-47f9-9210-f26416c244f0" targetNamespace="http://schemas.microsoft.com/office/2006/metadata/properties" ma:root="true" ma:fieldsID="0b496fba599b43c137ead1b28b9256d3" ns3:_="" ns4:_="">
    <xsd:import namespace="a11aa9f6-e4af-4104-bf81-0f6d6144281c"/>
    <xsd:import namespace="bea9ce00-4873-47f9-9210-f26416c244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a9f6-e4af-4104-bf81-0f6d61442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9ce00-4873-47f9-9210-f26416c244f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99ABE4-35E7-441B-ABD3-FB9BF05EAB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aa9f6-e4af-4104-bf81-0f6d6144281c"/>
    <ds:schemaRef ds:uri="bea9ce00-4873-47f9-9210-f26416c24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1DB8C8-6850-40A3-8A4F-7991EDE9EC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351D72-567A-4D55-9BE1-0D2D9DC49BD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11aa9f6-e4af-4104-bf81-0f6d6144281c"/>
    <ds:schemaRef ds:uri="bea9ce00-4873-47f9-9210-f26416c244f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20682</TotalTime>
  <Words>883</Words>
  <Application>Microsoft Macintosh PowerPoint</Application>
  <PresentationFormat>Widescreen</PresentationFormat>
  <Paragraphs>140</Paragraphs>
  <Slides>39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Gill Sans MT</vt:lpstr>
      <vt:lpstr>Gill Sans Nova Light</vt:lpstr>
      <vt:lpstr>KG No Matter What</vt:lpstr>
      <vt:lpstr>Snell Roundhand</vt:lpstr>
      <vt:lpstr> Black </vt:lpstr>
      <vt:lpstr>Let’s Do A Thing and Call it Foo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 Key to Some of the Bugs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Status or Why None of My Advice Will Work for You Today</dc:title>
  <dc:creator>Pyhajarvi Maaret</dc:creator>
  <cp:lastModifiedBy>Pyhäjärvi Maaret</cp:lastModifiedBy>
  <cp:revision>345</cp:revision>
  <cp:lastPrinted>2023-01-28T22:28:51Z</cp:lastPrinted>
  <dcterms:created xsi:type="dcterms:W3CDTF">2020-12-11T16:45:29Z</dcterms:created>
  <dcterms:modified xsi:type="dcterms:W3CDTF">2023-05-25T18:53:02Z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0b42cd-dfeb-4e2e-9713-e8274ec9275c_Enabled">
    <vt:lpwstr>true</vt:lpwstr>
  </property>
  <property fmtid="{D5CDD505-2E9C-101B-9397-08002B2CF9AE}" pid="3" name="MSIP_Label_bd0b42cd-dfeb-4e2e-9713-e8274ec9275c_SetDate">
    <vt:lpwstr>2021-09-01T17:20:39Z</vt:lpwstr>
  </property>
  <property fmtid="{D5CDD505-2E9C-101B-9397-08002B2CF9AE}" pid="4" name="MSIP_Label_bd0b42cd-dfeb-4e2e-9713-e8274ec9275c_Method">
    <vt:lpwstr>Privileged</vt:lpwstr>
  </property>
  <property fmtid="{D5CDD505-2E9C-101B-9397-08002B2CF9AE}" pid="5" name="MSIP_Label_bd0b42cd-dfeb-4e2e-9713-e8274ec9275c_Name">
    <vt:lpwstr>bd0b42cd-dfeb-4e2e-9713-e8274ec9275c</vt:lpwstr>
  </property>
  <property fmtid="{D5CDD505-2E9C-101B-9397-08002B2CF9AE}" pid="6" name="MSIP_Label_bd0b42cd-dfeb-4e2e-9713-e8274ec9275c_SiteId">
    <vt:lpwstr>6d7393e0-41f5-4c2e-9b12-4c2be5da5c57</vt:lpwstr>
  </property>
  <property fmtid="{D5CDD505-2E9C-101B-9397-08002B2CF9AE}" pid="7" name="MSIP_Label_bd0b42cd-dfeb-4e2e-9713-e8274ec9275c_ActionId">
    <vt:lpwstr>fd7c5a54-2976-4306-8d7e-9415340c5d0f</vt:lpwstr>
  </property>
  <property fmtid="{D5CDD505-2E9C-101B-9397-08002B2CF9AE}" pid="8" name="MSIP_Label_bd0b42cd-dfeb-4e2e-9713-e8274ec9275c_ContentBits">
    <vt:lpwstr>0</vt:lpwstr>
  </property>
</Properties>
</file>